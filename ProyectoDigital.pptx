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7" r:id="rId4"/>
    <p:sldId id="259" r:id="rId5"/>
    <p:sldId id="260" r:id="rId6"/>
    <p:sldId id="261" r:id="rId7"/>
    <p:sldId id="262" r:id="rId8"/>
    <p:sldId id="263" r:id="rId9"/>
    <p:sldId id="265" r:id="rId10"/>
    <p:sldId id="266" r:id="rId11"/>
    <p:sldId id="264"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5" r:id="rId30"/>
    <p:sldId id="284"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1" d="100"/>
          <a:sy n="71" d="100"/>
        </p:scale>
        <p:origin x="69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EBDFDE6F-5FDF-4D3A-B1AC-034700D339D2}" type="datetimeFigureOut">
              <a:rPr lang="es-CO" smtClean="0"/>
              <a:t>12/12/2025</a:t>
            </a:fld>
            <a:endParaRPr lang="es-CO"/>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s-CO"/>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13423B6E-1AC0-408C-A532-7B6C0E09E600}" type="slidenum">
              <a:rPr lang="es-CO" smtClean="0"/>
              <a:t>‹Nº›</a:t>
            </a:fld>
            <a:endParaRPr lang="es-CO"/>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8099983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BDFDE6F-5FDF-4D3A-B1AC-034700D339D2}" type="datetimeFigureOut">
              <a:rPr lang="es-CO" smtClean="0"/>
              <a:t>12/12/2025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13423B6E-1AC0-408C-A532-7B6C0E09E600}" type="slidenum">
              <a:rPr lang="es-CO" smtClean="0"/>
              <a:t>‹Nº›</a:t>
            </a:fld>
            <a:endParaRPr lang="es-CO"/>
          </a:p>
        </p:txBody>
      </p:sp>
    </p:spTree>
    <p:extLst>
      <p:ext uri="{BB962C8B-B14F-4D97-AF65-F5344CB8AC3E}">
        <p14:creationId xmlns:p14="http://schemas.microsoft.com/office/powerpoint/2010/main" val="35334542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EBDFDE6F-5FDF-4D3A-B1AC-034700D339D2}" type="datetimeFigureOut">
              <a:rPr lang="es-CO" smtClean="0"/>
              <a:t>12/12/2025</a:t>
            </a:fld>
            <a:endParaRPr lang="es-CO"/>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s-CO"/>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13423B6E-1AC0-408C-A532-7B6C0E09E600}" type="slidenum">
              <a:rPr lang="es-CO" smtClean="0"/>
              <a:t>‹Nº›</a:t>
            </a:fld>
            <a:endParaRPr lang="es-CO"/>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256498568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EBDFDE6F-5FDF-4D3A-B1AC-034700D339D2}" type="datetimeFigureOut">
              <a:rPr lang="es-CO" smtClean="0"/>
              <a:t>12/12/2025</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13423B6E-1AC0-408C-A532-7B6C0E09E600}" type="slidenum">
              <a:rPr lang="es-CO" smtClean="0"/>
              <a:t>‹Nº›</a:t>
            </a:fld>
            <a:endParaRPr lang="es-CO"/>
          </a:p>
        </p:txBody>
      </p:sp>
    </p:spTree>
    <p:extLst>
      <p:ext uri="{BB962C8B-B14F-4D97-AF65-F5344CB8AC3E}">
        <p14:creationId xmlns:p14="http://schemas.microsoft.com/office/powerpoint/2010/main" val="227393559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257300" y="2909102"/>
            <a:ext cx="4800600" cy="299639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633864" y="2909102"/>
            <a:ext cx="4800600" cy="299639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EBDFDE6F-5FDF-4D3A-B1AC-034700D339D2}" type="datetimeFigureOut">
              <a:rPr lang="es-CO" smtClean="0"/>
              <a:t>12/12/2025</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13423B6E-1AC0-408C-A532-7B6C0E09E600}" type="slidenum">
              <a:rPr lang="es-CO" smtClean="0"/>
              <a:t>‹Nº›</a:t>
            </a:fld>
            <a:endParaRPr lang="es-CO"/>
          </a:p>
        </p:txBody>
      </p:sp>
    </p:spTree>
    <p:extLst>
      <p:ext uri="{BB962C8B-B14F-4D97-AF65-F5344CB8AC3E}">
        <p14:creationId xmlns:p14="http://schemas.microsoft.com/office/powerpoint/2010/main" val="1013040580"/>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EBDFDE6F-5FDF-4D3A-B1AC-034700D339D2}" type="datetimeFigureOut">
              <a:rPr lang="es-CO" smtClean="0"/>
              <a:t>12/12/2025</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13423B6E-1AC0-408C-A532-7B6C0E09E600}" type="slidenum">
              <a:rPr lang="es-CO" smtClean="0"/>
              <a:t>‹Nº›</a:t>
            </a:fld>
            <a:endParaRPr lang="es-CO"/>
          </a:p>
        </p:txBody>
      </p:sp>
    </p:spTree>
    <p:extLst>
      <p:ext uri="{BB962C8B-B14F-4D97-AF65-F5344CB8AC3E}">
        <p14:creationId xmlns:p14="http://schemas.microsoft.com/office/powerpoint/2010/main" val="2243468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BDFDE6F-5FDF-4D3A-B1AC-034700D339D2}" type="datetimeFigureOut">
              <a:rPr lang="es-CO" smtClean="0"/>
              <a:t>12/12/2025</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13423B6E-1AC0-408C-A532-7B6C0E09E600}" type="slidenum">
              <a:rPr lang="es-CO" smtClean="0"/>
              <a:t>‹Nº›</a:t>
            </a:fld>
            <a:endParaRPr lang="es-CO"/>
          </a:p>
        </p:txBody>
      </p:sp>
    </p:spTree>
    <p:extLst>
      <p:ext uri="{BB962C8B-B14F-4D97-AF65-F5344CB8AC3E}">
        <p14:creationId xmlns:p14="http://schemas.microsoft.com/office/powerpoint/2010/main" val="36825623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65051" y="6375679"/>
            <a:ext cx="1233355" cy="348462"/>
          </a:xfrm>
        </p:spPr>
        <p:txBody>
          <a:bodyPr/>
          <a:lstStyle/>
          <a:p>
            <a:fld id="{EBDFDE6F-5FDF-4D3A-B1AC-034700D339D2}" type="datetimeFigureOut">
              <a:rPr lang="es-CO" smtClean="0"/>
              <a:t>12/12/2025</a:t>
            </a:fld>
            <a:endParaRPr lang="es-CO"/>
          </a:p>
        </p:txBody>
      </p:sp>
      <p:sp>
        <p:nvSpPr>
          <p:cNvPr id="6" name="Footer Placeholder 5"/>
          <p:cNvSpPr>
            <a:spLocks noGrp="1"/>
          </p:cNvSpPr>
          <p:nvPr>
            <p:ph type="ftr" sz="quarter" idx="11"/>
          </p:nvPr>
        </p:nvSpPr>
        <p:spPr>
          <a:xfrm>
            <a:off x="2103620" y="6375679"/>
            <a:ext cx="3482179" cy="345796"/>
          </a:xfrm>
        </p:spPr>
        <p:txBody>
          <a:bodyPr/>
          <a:lstStyle/>
          <a:p>
            <a:endParaRPr lang="es-CO"/>
          </a:p>
        </p:txBody>
      </p:sp>
      <p:sp>
        <p:nvSpPr>
          <p:cNvPr id="7" name="Slide Number Placeholder 6"/>
          <p:cNvSpPr>
            <a:spLocks noGrp="1"/>
          </p:cNvSpPr>
          <p:nvPr>
            <p:ph type="sldNum" sz="quarter" idx="12"/>
          </p:nvPr>
        </p:nvSpPr>
        <p:spPr>
          <a:xfrm>
            <a:off x="5691014" y="6375679"/>
            <a:ext cx="1232456" cy="345796"/>
          </a:xfrm>
        </p:spPr>
        <p:txBody>
          <a:bodyPr/>
          <a:lstStyle/>
          <a:p>
            <a:fld id="{13423B6E-1AC0-408C-A532-7B6C0E09E600}" type="slidenum">
              <a:rPr lang="es-CO" smtClean="0"/>
              <a:t>‹Nº›</a:t>
            </a:fld>
            <a:endParaRPr lang="es-CO"/>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59305943"/>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65950" y="6375679"/>
            <a:ext cx="1232456" cy="348462"/>
          </a:xfrm>
        </p:spPr>
        <p:txBody>
          <a:bodyPr/>
          <a:lstStyle/>
          <a:p>
            <a:fld id="{EBDFDE6F-5FDF-4D3A-B1AC-034700D339D2}" type="datetimeFigureOut">
              <a:rPr lang="es-CO" smtClean="0"/>
              <a:t>12/12/2025</a:t>
            </a:fld>
            <a:endParaRPr lang="es-CO"/>
          </a:p>
        </p:txBody>
      </p:sp>
      <p:sp>
        <p:nvSpPr>
          <p:cNvPr id="6" name="Footer Placeholder 5"/>
          <p:cNvSpPr>
            <a:spLocks noGrp="1"/>
          </p:cNvSpPr>
          <p:nvPr>
            <p:ph type="ftr" sz="quarter" idx="11"/>
          </p:nvPr>
        </p:nvSpPr>
        <p:spPr>
          <a:xfrm>
            <a:off x="2103621" y="6375679"/>
            <a:ext cx="3482178" cy="345796"/>
          </a:xfrm>
        </p:spPr>
        <p:txBody>
          <a:bodyPr/>
          <a:lstStyle/>
          <a:p>
            <a:endParaRPr lang="es-CO"/>
          </a:p>
        </p:txBody>
      </p:sp>
      <p:sp>
        <p:nvSpPr>
          <p:cNvPr id="7" name="Slide Number Placeholder 6"/>
          <p:cNvSpPr>
            <a:spLocks noGrp="1"/>
          </p:cNvSpPr>
          <p:nvPr>
            <p:ph type="sldNum" sz="quarter" idx="12"/>
          </p:nvPr>
        </p:nvSpPr>
        <p:spPr>
          <a:xfrm>
            <a:off x="5687568" y="6375679"/>
            <a:ext cx="1234440" cy="345796"/>
          </a:xfrm>
        </p:spPr>
        <p:txBody>
          <a:bodyPr/>
          <a:lstStyle/>
          <a:p>
            <a:fld id="{13423B6E-1AC0-408C-A532-7B6C0E09E600}" type="slidenum">
              <a:rPr lang="es-CO" smtClean="0"/>
              <a:t>‹Nº›</a:t>
            </a:fld>
            <a:endParaRPr lang="es-CO"/>
          </a:p>
        </p:txBody>
      </p:sp>
    </p:spTree>
    <p:extLst>
      <p:ext uri="{BB962C8B-B14F-4D97-AF65-F5344CB8AC3E}">
        <p14:creationId xmlns:p14="http://schemas.microsoft.com/office/powerpoint/2010/main" val="37232750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BDFDE6F-5FDF-4D3A-B1AC-034700D339D2}" type="datetimeFigureOut">
              <a:rPr lang="es-CO" smtClean="0"/>
              <a:t>12/12/2025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13423B6E-1AC0-408C-A532-7B6C0E09E600}" type="slidenum">
              <a:rPr lang="es-CO" smtClean="0"/>
              <a:t>‹Nº›</a:t>
            </a:fld>
            <a:endParaRPr lang="es-CO"/>
          </a:p>
        </p:txBody>
      </p:sp>
    </p:spTree>
    <p:extLst>
      <p:ext uri="{BB962C8B-B14F-4D97-AF65-F5344CB8AC3E}">
        <p14:creationId xmlns:p14="http://schemas.microsoft.com/office/powerpoint/2010/main" val="3312233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BDFDE6F-5FDF-4D3A-B1AC-034700D339D2}" type="datetimeFigureOut">
              <a:rPr lang="es-CO" smtClean="0"/>
              <a:t>12/12/2025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13423B6E-1AC0-408C-A532-7B6C0E09E600}" type="slidenum">
              <a:rPr lang="es-CO" smtClean="0"/>
              <a:t>‹Nº›</a:t>
            </a:fld>
            <a:endParaRPr lang="es-CO"/>
          </a:p>
        </p:txBody>
      </p:sp>
    </p:spTree>
    <p:extLst>
      <p:ext uri="{BB962C8B-B14F-4D97-AF65-F5344CB8AC3E}">
        <p14:creationId xmlns:p14="http://schemas.microsoft.com/office/powerpoint/2010/main" val="931087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EBDFDE6F-5FDF-4D3A-B1AC-034700D339D2}" type="datetimeFigureOut">
              <a:rPr lang="es-CO" smtClean="0"/>
              <a:t>12/12/2025</a:t>
            </a:fld>
            <a:endParaRPr lang="es-CO"/>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s-CO"/>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13423B6E-1AC0-408C-A532-7B6C0E09E600}" type="slidenum">
              <a:rPr lang="es-CO" smtClean="0"/>
              <a:t>‹Nº›</a:t>
            </a:fld>
            <a:endParaRPr lang="es-CO"/>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1069066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C13B36-A7AD-4372-809E-9BB6E69C2030}"/>
              </a:ext>
            </a:extLst>
          </p:cNvPr>
          <p:cNvSpPr>
            <a:spLocks noGrp="1"/>
          </p:cNvSpPr>
          <p:nvPr>
            <p:ph type="ctrTitle"/>
          </p:nvPr>
        </p:nvSpPr>
        <p:spPr/>
        <p:txBody>
          <a:bodyPr/>
          <a:lstStyle/>
          <a:p>
            <a:r>
              <a:rPr lang="es-ES" sz="6000" dirty="0"/>
              <a:t>Sistema de control de carga inteligente de batería para hidroeléctrica</a:t>
            </a:r>
            <a:endParaRPr lang="es-CO" sz="6000" dirty="0"/>
          </a:p>
        </p:txBody>
      </p:sp>
      <p:sp>
        <p:nvSpPr>
          <p:cNvPr id="3" name="Subtítulo 2">
            <a:extLst>
              <a:ext uri="{FF2B5EF4-FFF2-40B4-BE49-F238E27FC236}">
                <a16:creationId xmlns:a16="http://schemas.microsoft.com/office/drawing/2014/main" id="{721DDF79-378F-4300-BC31-2A0DB2EA429E}"/>
              </a:ext>
            </a:extLst>
          </p:cNvPr>
          <p:cNvSpPr>
            <a:spLocks noGrp="1"/>
          </p:cNvSpPr>
          <p:nvPr>
            <p:ph type="subTitle" idx="1"/>
          </p:nvPr>
        </p:nvSpPr>
        <p:spPr/>
        <p:txBody>
          <a:bodyPr>
            <a:normAutofit lnSpcReduction="10000"/>
          </a:bodyPr>
          <a:lstStyle/>
          <a:p>
            <a:r>
              <a:rPr lang="es-ES" dirty="0"/>
              <a:t>Juan Diego Ruiz Trejo</a:t>
            </a:r>
          </a:p>
          <a:p>
            <a:r>
              <a:rPr lang="es-ES" dirty="0"/>
              <a:t>Nicolás Moreno Molina</a:t>
            </a:r>
            <a:endParaRPr lang="es-CO" dirty="0"/>
          </a:p>
        </p:txBody>
      </p:sp>
    </p:spTree>
    <p:extLst>
      <p:ext uri="{BB962C8B-B14F-4D97-AF65-F5344CB8AC3E}">
        <p14:creationId xmlns:p14="http://schemas.microsoft.com/office/powerpoint/2010/main" val="23305566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3A761A-F5B3-4C78-946E-F68F46188134}"/>
              </a:ext>
            </a:extLst>
          </p:cNvPr>
          <p:cNvSpPr>
            <a:spLocks noGrp="1"/>
          </p:cNvSpPr>
          <p:nvPr>
            <p:ph type="title"/>
          </p:nvPr>
        </p:nvSpPr>
        <p:spPr/>
        <p:txBody>
          <a:bodyPr/>
          <a:lstStyle/>
          <a:p>
            <a:r>
              <a:rPr lang="es-ES" dirty="0"/>
              <a:t>Resumen</a:t>
            </a:r>
            <a:endParaRPr lang="es-CO" dirty="0"/>
          </a:p>
        </p:txBody>
      </p:sp>
      <p:sp>
        <p:nvSpPr>
          <p:cNvPr id="3" name="Marcador de texto 2">
            <a:extLst>
              <a:ext uri="{FF2B5EF4-FFF2-40B4-BE49-F238E27FC236}">
                <a16:creationId xmlns:a16="http://schemas.microsoft.com/office/drawing/2014/main" id="{487BEAA0-5D6F-4961-A023-D3C242C9D5E6}"/>
              </a:ext>
            </a:extLst>
          </p:cNvPr>
          <p:cNvSpPr>
            <a:spLocks noGrp="1"/>
          </p:cNvSpPr>
          <p:nvPr>
            <p:ph type="body" idx="1"/>
          </p:nvPr>
        </p:nvSpPr>
        <p:spPr/>
        <p:txBody>
          <a:bodyPr/>
          <a:lstStyle/>
          <a:p>
            <a:r>
              <a:rPr lang="es-ES" dirty="0"/>
              <a:t>¿Qué fue lo que se realizó?</a:t>
            </a:r>
            <a:endParaRPr lang="es-CO" dirty="0"/>
          </a:p>
        </p:txBody>
      </p:sp>
    </p:spTree>
    <p:extLst>
      <p:ext uri="{BB962C8B-B14F-4D97-AF65-F5344CB8AC3E}">
        <p14:creationId xmlns:p14="http://schemas.microsoft.com/office/powerpoint/2010/main" val="16273642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919120-A291-4528-BFBC-3A67358DFAE2}"/>
              </a:ext>
            </a:extLst>
          </p:cNvPr>
          <p:cNvSpPr>
            <a:spLocks noGrp="1"/>
          </p:cNvSpPr>
          <p:nvPr>
            <p:ph type="title"/>
          </p:nvPr>
        </p:nvSpPr>
        <p:spPr>
          <a:xfrm>
            <a:off x="1251678" y="368938"/>
            <a:ext cx="10178322" cy="1492132"/>
          </a:xfrm>
        </p:spPr>
        <p:txBody>
          <a:bodyPr/>
          <a:lstStyle/>
          <a:p>
            <a:r>
              <a:rPr lang="es-ES" dirty="0"/>
              <a:t>Resumen</a:t>
            </a:r>
            <a:endParaRPr lang="es-CO" dirty="0"/>
          </a:p>
        </p:txBody>
      </p:sp>
      <p:sp>
        <p:nvSpPr>
          <p:cNvPr id="3" name="Marcador de contenido 2">
            <a:extLst>
              <a:ext uri="{FF2B5EF4-FFF2-40B4-BE49-F238E27FC236}">
                <a16:creationId xmlns:a16="http://schemas.microsoft.com/office/drawing/2014/main" id="{60E49C79-F1BD-4F6A-9D94-04DDE0D4658A}"/>
              </a:ext>
            </a:extLst>
          </p:cNvPr>
          <p:cNvSpPr>
            <a:spLocks noGrp="1"/>
          </p:cNvSpPr>
          <p:nvPr>
            <p:ph idx="1"/>
          </p:nvPr>
        </p:nvSpPr>
        <p:spPr>
          <a:xfrm>
            <a:off x="1251678" y="2286001"/>
            <a:ext cx="3589263" cy="3593591"/>
          </a:xfrm>
        </p:spPr>
        <p:txBody>
          <a:bodyPr>
            <a:normAutofit fontScale="92500" lnSpcReduction="20000"/>
          </a:bodyPr>
          <a:lstStyle/>
          <a:p>
            <a:r>
              <a:rPr lang="es-ES" dirty="0"/>
              <a:t>Se realizó un sistema digital que permitía cargar de manera segura una batería de litio de 3,7 V mediante la regulación de una </a:t>
            </a:r>
            <a:r>
              <a:rPr lang="es-ES" dirty="0" err="1"/>
              <a:t>servovalvula</a:t>
            </a:r>
            <a:r>
              <a:rPr lang="es-ES" dirty="0"/>
              <a:t> que alimentaba un sistema hídrico constituido por un generador que fue representado por un motor </a:t>
            </a:r>
            <a:r>
              <a:rPr lang="es-ES" dirty="0" err="1"/>
              <a:t>stepper</a:t>
            </a:r>
            <a:r>
              <a:rPr lang="es-ES" dirty="0"/>
              <a:t> M4SP-5. El sistema incorpora un control PI que determina la apertura de la </a:t>
            </a:r>
            <a:r>
              <a:rPr lang="es-ES" dirty="0" err="1"/>
              <a:t>servovalvula</a:t>
            </a:r>
            <a:r>
              <a:rPr lang="es-ES" dirty="0"/>
              <a:t> considerando la carga de la batería.</a:t>
            </a:r>
            <a:endParaRPr lang="es-CO" dirty="0"/>
          </a:p>
        </p:txBody>
      </p:sp>
      <p:pic>
        <p:nvPicPr>
          <p:cNvPr id="5" name="Imagen 4">
            <a:extLst>
              <a:ext uri="{FF2B5EF4-FFF2-40B4-BE49-F238E27FC236}">
                <a16:creationId xmlns:a16="http://schemas.microsoft.com/office/drawing/2014/main" id="{2B4BE458-C31C-4E9F-99B6-0C57B6C3C1FF}"/>
              </a:ext>
            </a:extLst>
          </p:cNvPr>
          <p:cNvPicPr>
            <a:picLocks noChangeAspect="1"/>
          </p:cNvPicPr>
          <p:nvPr/>
        </p:nvPicPr>
        <p:blipFill rotWithShape="1">
          <a:blip r:embed="rId2"/>
          <a:srcRect t="17059" b="30541"/>
          <a:stretch/>
        </p:blipFill>
        <p:spPr>
          <a:xfrm>
            <a:off x="6681787" y="1861070"/>
            <a:ext cx="3857625" cy="3593591"/>
          </a:xfrm>
          <a:prstGeom prst="rect">
            <a:avLst/>
          </a:prstGeom>
        </p:spPr>
      </p:pic>
    </p:spTree>
    <p:extLst>
      <p:ext uri="{BB962C8B-B14F-4D97-AF65-F5344CB8AC3E}">
        <p14:creationId xmlns:p14="http://schemas.microsoft.com/office/powerpoint/2010/main" val="7375547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919120-A291-4528-BFBC-3A67358DFAE2}"/>
              </a:ext>
            </a:extLst>
          </p:cNvPr>
          <p:cNvSpPr>
            <a:spLocks noGrp="1"/>
          </p:cNvSpPr>
          <p:nvPr>
            <p:ph type="title"/>
          </p:nvPr>
        </p:nvSpPr>
        <p:spPr>
          <a:xfrm>
            <a:off x="1251678" y="368938"/>
            <a:ext cx="10178322" cy="1492132"/>
          </a:xfrm>
        </p:spPr>
        <p:txBody>
          <a:bodyPr/>
          <a:lstStyle/>
          <a:p>
            <a:r>
              <a:rPr lang="es-ES" dirty="0"/>
              <a:t>Resumen</a:t>
            </a:r>
            <a:endParaRPr lang="es-CO" dirty="0"/>
          </a:p>
        </p:txBody>
      </p:sp>
      <p:sp>
        <p:nvSpPr>
          <p:cNvPr id="3" name="Marcador de contenido 2">
            <a:extLst>
              <a:ext uri="{FF2B5EF4-FFF2-40B4-BE49-F238E27FC236}">
                <a16:creationId xmlns:a16="http://schemas.microsoft.com/office/drawing/2014/main" id="{60E49C79-F1BD-4F6A-9D94-04DDE0D4658A}"/>
              </a:ext>
            </a:extLst>
          </p:cNvPr>
          <p:cNvSpPr>
            <a:spLocks noGrp="1"/>
          </p:cNvSpPr>
          <p:nvPr>
            <p:ph idx="1"/>
          </p:nvPr>
        </p:nvSpPr>
        <p:spPr>
          <a:xfrm>
            <a:off x="7840737" y="1237130"/>
            <a:ext cx="3589263" cy="4848520"/>
          </a:xfrm>
        </p:spPr>
        <p:txBody>
          <a:bodyPr>
            <a:normAutofit fontScale="92500" lnSpcReduction="20000"/>
          </a:bodyPr>
          <a:lstStyle/>
          <a:p>
            <a:r>
              <a:rPr lang="es-ES" dirty="0"/>
              <a:t>Para lograr lo anterior, se consideró una máquina de estados finitos con 3 estados (OFF, SEARCH y TRACK) que consideraba como entradas las rpm del generador y la carga de la batería con valores binarios que representaban la disposición de estas variables dentro de un rango aceptable para el sistema. Las salidas de la máquina de estados consideran la activación de leds para la representación visual de cada estado, la activación del control PID y el forzamiento de la </a:t>
            </a:r>
            <a:r>
              <a:rPr lang="es-ES" dirty="0" err="1"/>
              <a:t>servovalvula</a:t>
            </a:r>
            <a:r>
              <a:rPr lang="es-ES" dirty="0"/>
              <a:t> a la posición de cierre completo</a:t>
            </a:r>
            <a:endParaRPr lang="es-CO" dirty="0"/>
          </a:p>
        </p:txBody>
      </p:sp>
      <p:pic>
        <p:nvPicPr>
          <p:cNvPr id="4" name="Imagen 3">
            <a:extLst>
              <a:ext uri="{FF2B5EF4-FFF2-40B4-BE49-F238E27FC236}">
                <a16:creationId xmlns:a16="http://schemas.microsoft.com/office/drawing/2014/main" id="{E1235BA1-837B-4255-9232-F35A858615AE}"/>
              </a:ext>
            </a:extLst>
          </p:cNvPr>
          <p:cNvPicPr>
            <a:picLocks noChangeAspect="1"/>
          </p:cNvPicPr>
          <p:nvPr/>
        </p:nvPicPr>
        <p:blipFill rotWithShape="1">
          <a:blip r:embed="rId2"/>
          <a:srcRect t="18040" b="27137"/>
          <a:stretch/>
        </p:blipFill>
        <p:spPr>
          <a:xfrm>
            <a:off x="2238375" y="1861070"/>
            <a:ext cx="3857625" cy="3759801"/>
          </a:xfrm>
          <a:prstGeom prst="rect">
            <a:avLst/>
          </a:prstGeom>
        </p:spPr>
      </p:pic>
    </p:spTree>
    <p:extLst>
      <p:ext uri="{BB962C8B-B14F-4D97-AF65-F5344CB8AC3E}">
        <p14:creationId xmlns:p14="http://schemas.microsoft.com/office/powerpoint/2010/main" val="1725763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919120-A291-4528-BFBC-3A67358DFAE2}"/>
              </a:ext>
            </a:extLst>
          </p:cNvPr>
          <p:cNvSpPr>
            <a:spLocks noGrp="1"/>
          </p:cNvSpPr>
          <p:nvPr>
            <p:ph type="title"/>
          </p:nvPr>
        </p:nvSpPr>
        <p:spPr>
          <a:xfrm>
            <a:off x="1251678" y="368938"/>
            <a:ext cx="10178322" cy="1492132"/>
          </a:xfrm>
        </p:spPr>
        <p:txBody>
          <a:bodyPr/>
          <a:lstStyle/>
          <a:p>
            <a:r>
              <a:rPr lang="es-ES" dirty="0"/>
              <a:t>Resumen</a:t>
            </a:r>
            <a:endParaRPr lang="es-CO" dirty="0"/>
          </a:p>
        </p:txBody>
      </p:sp>
      <p:sp>
        <p:nvSpPr>
          <p:cNvPr id="3" name="Marcador de contenido 2">
            <a:extLst>
              <a:ext uri="{FF2B5EF4-FFF2-40B4-BE49-F238E27FC236}">
                <a16:creationId xmlns:a16="http://schemas.microsoft.com/office/drawing/2014/main" id="{60E49C79-F1BD-4F6A-9D94-04DDE0D4658A}"/>
              </a:ext>
            </a:extLst>
          </p:cNvPr>
          <p:cNvSpPr>
            <a:spLocks noGrp="1"/>
          </p:cNvSpPr>
          <p:nvPr>
            <p:ph idx="1"/>
          </p:nvPr>
        </p:nvSpPr>
        <p:spPr>
          <a:xfrm>
            <a:off x="1117207" y="1437733"/>
            <a:ext cx="3589263" cy="4848520"/>
          </a:xfrm>
        </p:spPr>
        <p:txBody>
          <a:bodyPr>
            <a:normAutofit fontScale="92500"/>
          </a:bodyPr>
          <a:lstStyle/>
          <a:p>
            <a:r>
              <a:rPr lang="es-ES" dirty="0"/>
              <a:t>Por último, el sistema digital considera la interconexión de varios módulos independientes para el correcto funcionamiento del proyecto.  Cada módulo fue simulado individualmente y se tomó en consideración la implementación del protocolo de comunicación UART (que al final no se implementó por problemas técnicos) para la representación de los valores presentes de rpm y carga de la batería en una interfaz inalámbrica</a:t>
            </a:r>
            <a:endParaRPr lang="es-CO" dirty="0"/>
          </a:p>
        </p:txBody>
      </p:sp>
      <p:pic>
        <p:nvPicPr>
          <p:cNvPr id="4" name="Imagen 3">
            <a:extLst>
              <a:ext uri="{FF2B5EF4-FFF2-40B4-BE49-F238E27FC236}">
                <a16:creationId xmlns:a16="http://schemas.microsoft.com/office/drawing/2014/main" id="{1A16DDC7-2DA3-4A8F-96BF-917C1C331286}"/>
              </a:ext>
            </a:extLst>
          </p:cNvPr>
          <p:cNvPicPr>
            <a:picLocks noChangeAspect="1"/>
          </p:cNvPicPr>
          <p:nvPr/>
        </p:nvPicPr>
        <p:blipFill rotWithShape="1">
          <a:blip r:embed="rId2"/>
          <a:srcRect t="18040" b="27137"/>
          <a:stretch/>
        </p:blipFill>
        <p:spPr>
          <a:xfrm>
            <a:off x="6568328" y="1861070"/>
            <a:ext cx="3857625" cy="3759801"/>
          </a:xfrm>
          <a:prstGeom prst="rect">
            <a:avLst/>
          </a:prstGeom>
        </p:spPr>
      </p:pic>
    </p:spTree>
    <p:extLst>
      <p:ext uri="{BB962C8B-B14F-4D97-AF65-F5344CB8AC3E}">
        <p14:creationId xmlns:p14="http://schemas.microsoft.com/office/powerpoint/2010/main" val="21402783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18C221-D3D1-40CC-8C3A-49B8A83148A9}"/>
              </a:ext>
            </a:extLst>
          </p:cNvPr>
          <p:cNvSpPr>
            <a:spLocks noGrp="1"/>
          </p:cNvSpPr>
          <p:nvPr>
            <p:ph type="title"/>
          </p:nvPr>
        </p:nvSpPr>
        <p:spPr/>
        <p:txBody>
          <a:bodyPr/>
          <a:lstStyle/>
          <a:p>
            <a:r>
              <a:rPr lang="es-ES" dirty="0"/>
              <a:t>Justificación</a:t>
            </a:r>
            <a:endParaRPr lang="es-CO" dirty="0"/>
          </a:p>
        </p:txBody>
      </p:sp>
      <p:sp>
        <p:nvSpPr>
          <p:cNvPr id="3" name="Marcador de texto 2">
            <a:extLst>
              <a:ext uri="{FF2B5EF4-FFF2-40B4-BE49-F238E27FC236}">
                <a16:creationId xmlns:a16="http://schemas.microsoft.com/office/drawing/2014/main" id="{F8717639-A6F9-42D7-A3BB-EB5992A9625C}"/>
              </a:ext>
            </a:extLst>
          </p:cNvPr>
          <p:cNvSpPr>
            <a:spLocks noGrp="1"/>
          </p:cNvSpPr>
          <p:nvPr>
            <p:ph type="body" idx="1"/>
          </p:nvPr>
        </p:nvSpPr>
        <p:spPr/>
        <p:txBody>
          <a:bodyPr/>
          <a:lstStyle/>
          <a:p>
            <a:r>
              <a:rPr lang="es-ES" dirty="0"/>
              <a:t>¿Por qué se escogió realizar este proyecto?</a:t>
            </a:r>
            <a:endParaRPr lang="es-CO" dirty="0"/>
          </a:p>
        </p:txBody>
      </p:sp>
    </p:spTree>
    <p:extLst>
      <p:ext uri="{BB962C8B-B14F-4D97-AF65-F5344CB8AC3E}">
        <p14:creationId xmlns:p14="http://schemas.microsoft.com/office/powerpoint/2010/main" val="39552084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CC7F6C-0A6D-4189-A9A9-7B451D362BF3}"/>
              </a:ext>
            </a:extLst>
          </p:cNvPr>
          <p:cNvSpPr>
            <a:spLocks noGrp="1"/>
          </p:cNvSpPr>
          <p:nvPr>
            <p:ph type="title"/>
          </p:nvPr>
        </p:nvSpPr>
        <p:spPr>
          <a:xfrm>
            <a:off x="6971158" y="638735"/>
            <a:ext cx="4422981" cy="1492132"/>
          </a:xfrm>
        </p:spPr>
        <p:txBody>
          <a:bodyPr/>
          <a:lstStyle/>
          <a:p>
            <a:r>
              <a:rPr lang="es-ES" dirty="0"/>
              <a:t>justificación</a:t>
            </a:r>
            <a:endParaRPr lang="es-CO" dirty="0"/>
          </a:p>
        </p:txBody>
      </p:sp>
      <p:pic>
        <p:nvPicPr>
          <p:cNvPr id="5" name="Imagen 4">
            <a:extLst>
              <a:ext uri="{FF2B5EF4-FFF2-40B4-BE49-F238E27FC236}">
                <a16:creationId xmlns:a16="http://schemas.microsoft.com/office/drawing/2014/main" id="{89DE8EE4-F91F-4528-896F-797C78F97770}"/>
              </a:ext>
            </a:extLst>
          </p:cNvPr>
          <p:cNvPicPr>
            <a:picLocks noChangeAspect="1"/>
          </p:cNvPicPr>
          <p:nvPr/>
        </p:nvPicPr>
        <p:blipFill>
          <a:blip r:embed="rId2"/>
          <a:stretch>
            <a:fillRect/>
          </a:stretch>
        </p:blipFill>
        <p:spPr>
          <a:xfrm>
            <a:off x="927847" y="638735"/>
            <a:ext cx="5782235" cy="4336677"/>
          </a:xfrm>
          <a:prstGeom prst="rect">
            <a:avLst/>
          </a:prstGeom>
        </p:spPr>
      </p:pic>
      <p:pic>
        <p:nvPicPr>
          <p:cNvPr id="6" name="Imagen 5">
            <a:extLst>
              <a:ext uri="{FF2B5EF4-FFF2-40B4-BE49-F238E27FC236}">
                <a16:creationId xmlns:a16="http://schemas.microsoft.com/office/drawing/2014/main" id="{D3F640DD-F60C-4777-B807-65668A2A6F69}"/>
              </a:ext>
            </a:extLst>
          </p:cNvPr>
          <p:cNvPicPr>
            <a:picLocks noChangeAspect="1"/>
          </p:cNvPicPr>
          <p:nvPr/>
        </p:nvPicPr>
        <p:blipFill>
          <a:blip r:embed="rId3"/>
          <a:stretch>
            <a:fillRect/>
          </a:stretch>
        </p:blipFill>
        <p:spPr>
          <a:xfrm>
            <a:off x="6338044" y="3078884"/>
            <a:ext cx="5056095" cy="3792071"/>
          </a:xfrm>
          <a:prstGeom prst="rect">
            <a:avLst/>
          </a:prstGeom>
        </p:spPr>
      </p:pic>
      <p:pic>
        <p:nvPicPr>
          <p:cNvPr id="7" name="Imagen 6">
            <a:extLst>
              <a:ext uri="{FF2B5EF4-FFF2-40B4-BE49-F238E27FC236}">
                <a16:creationId xmlns:a16="http://schemas.microsoft.com/office/drawing/2014/main" id="{1F7705AB-DE95-40DD-8EB4-9778F8D3C677}"/>
              </a:ext>
            </a:extLst>
          </p:cNvPr>
          <p:cNvPicPr>
            <a:picLocks noChangeAspect="1"/>
          </p:cNvPicPr>
          <p:nvPr/>
        </p:nvPicPr>
        <p:blipFill>
          <a:blip r:embed="rId4"/>
          <a:stretch>
            <a:fillRect/>
          </a:stretch>
        </p:blipFill>
        <p:spPr>
          <a:xfrm>
            <a:off x="2200603" y="953113"/>
            <a:ext cx="3236721" cy="5756970"/>
          </a:xfrm>
          <a:prstGeom prst="rect">
            <a:avLst/>
          </a:prstGeom>
        </p:spPr>
      </p:pic>
    </p:spTree>
    <p:extLst>
      <p:ext uri="{BB962C8B-B14F-4D97-AF65-F5344CB8AC3E}">
        <p14:creationId xmlns:p14="http://schemas.microsoft.com/office/powerpoint/2010/main" val="4052383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F3FEF2-F4D6-4AFE-BE1E-C8E8EA733B96}"/>
              </a:ext>
            </a:extLst>
          </p:cNvPr>
          <p:cNvSpPr>
            <a:spLocks noGrp="1"/>
          </p:cNvSpPr>
          <p:nvPr>
            <p:ph type="title"/>
          </p:nvPr>
        </p:nvSpPr>
        <p:spPr/>
        <p:txBody>
          <a:bodyPr/>
          <a:lstStyle/>
          <a:p>
            <a:r>
              <a:rPr lang="es-ES" dirty="0"/>
              <a:t>Desarrollo</a:t>
            </a:r>
            <a:endParaRPr lang="es-CO" dirty="0"/>
          </a:p>
        </p:txBody>
      </p:sp>
      <p:sp>
        <p:nvSpPr>
          <p:cNvPr id="3" name="Marcador de texto 2">
            <a:extLst>
              <a:ext uri="{FF2B5EF4-FFF2-40B4-BE49-F238E27FC236}">
                <a16:creationId xmlns:a16="http://schemas.microsoft.com/office/drawing/2014/main" id="{3D5A2744-0A55-40CB-8B26-C3219FA9DC57}"/>
              </a:ext>
            </a:extLst>
          </p:cNvPr>
          <p:cNvSpPr>
            <a:spLocks noGrp="1"/>
          </p:cNvSpPr>
          <p:nvPr>
            <p:ph type="body" idx="1"/>
          </p:nvPr>
        </p:nvSpPr>
        <p:spPr/>
        <p:txBody>
          <a:bodyPr/>
          <a:lstStyle/>
          <a:p>
            <a:r>
              <a:rPr lang="es-ES" dirty="0"/>
              <a:t>¿Cómo se realizó el proyecto?</a:t>
            </a:r>
            <a:endParaRPr lang="es-CO" dirty="0"/>
          </a:p>
        </p:txBody>
      </p:sp>
    </p:spTree>
    <p:extLst>
      <p:ext uri="{BB962C8B-B14F-4D97-AF65-F5344CB8AC3E}">
        <p14:creationId xmlns:p14="http://schemas.microsoft.com/office/powerpoint/2010/main" val="41961525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C28127-1145-41E4-9711-407C6ECE5F36}"/>
              </a:ext>
            </a:extLst>
          </p:cNvPr>
          <p:cNvSpPr>
            <a:spLocks noGrp="1"/>
          </p:cNvSpPr>
          <p:nvPr>
            <p:ph type="title"/>
          </p:nvPr>
        </p:nvSpPr>
        <p:spPr>
          <a:xfrm>
            <a:off x="1251678" y="368938"/>
            <a:ext cx="10178322" cy="1492132"/>
          </a:xfrm>
        </p:spPr>
        <p:txBody>
          <a:bodyPr/>
          <a:lstStyle/>
          <a:p>
            <a:r>
              <a:rPr lang="es-ES" dirty="0"/>
              <a:t>Diagrama de caja negra</a:t>
            </a:r>
            <a:endParaRPr lang="es-CO" dirty="0"/>
          </a:p>
        </p:txBody>
      </p:sp>
      <p:pic>
        <p:nvPicPr>
          <p:cNvPr id="4" name="Imagen 3">
            <a:extLst>
              <a:ext uri="{FF2B5EF4-FFF2-40B4-BE49-F238E27FC236}">
                <a16:creationId xmlns:a16="http://schemas.microsoft.com/office/drawing/2014/main" id="{4FB54DBC-0BA5-44ED-AC30-8598758C94C8}"/>
              </a:ext>
            </a:extLst>
          </p:cNvPr>
          <p:cNvPicPr>
            <a:picLocks noChangeAspect="1"/>
          </p:cNvPicPr>
          <p:nvPr/>
        </p:nvPicPr>
        <p:blipFill>
          <a:blip r:embed="rId2"/>
          <a:stretch>
            <a:fillRect/>
          </a:stretch>
        </p:blipFill>
        <p:spPr>
          <a:xfrm>
            <a:off x="1251678" y="1930322"/>
            <a:ext cx="10501077" cy="2997355"/>
          </a:xfrm>
          <a:prstGeom prst="rect">
            <a:avLst/>
          </a:prstGeom>
        </p:spPr>
      </p:pic>
    </p:spTree>
    <p:extLst>
      <p:ext uri="{BB962C8B-B14F-4D97-AF65-F5344CB8AC3E}">
        <p14:creationId xmlns:p14="http://schemas.microsoft.com/office/powerpoint/2010/main" val="22317454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C28127-1145-41E4-9711-407C6ECE5F36}"/>
              </a:ext>
            </a:extLst>
          </p:cNvPr>
          <p:cNvSpPr>
            <a:spLocks noGrp="1"/>
          </p:cNvSpPr>
          <p:nvPr>
            <p:ph type="title"/>
          </p:nvPr>
        </p:nvSpPr>
        <p:spPr>
          <a:xfrm>
            <a:off x="1251678" y="368938"/>
            <a:ext cx="10178322" cy="1492132"/>
          </a:xfrm>
        </p:spPr>
        <p:txBody>
          <a:bodyPr/>
          <a:lstStyle/>
          <a:p>
            <a:r>
              <a:rPr lang="es-ES" dirty="0"/>
              <a:t>Entradas y salidas del sistema</a:t>
            </a:r>
            <a:endParaRPr lang="es-CO" dirty="0"/>
          </a:p>
        </p:txBody>
      </p:sp>
      <p:pic>
        <p:nvPicPr>
          <p:cNvPr id="9" name="Imagen 8">
            <a:extLst>
              <a:ext uri="{FF2B5EF4-FFF2-40B4-BE49-F238E27FC236}">
                <a16:creationId xmlns:a16="http://schemas.microsoft.com/office/drawing/2014/main" id="{84D5A1A0-9141-4FDE-8C84-474C867798FB}"/>
              </a:ext>
            </a:extLst>
          </p:cNvPr>
          <p:cNvPicPr>
            <a:picLocks noChangeAspect="1"/>
          </p:cNvPicPr>
          <p:nvPr/>
        </p:nvPicPr>
        <p:blipFill>
          <a:blip r:embed="rId2"/>
          <a:stretch>
            <a:fillRect/>
          </a:stretch>
        </p:blipFill>
        <p:spPr>
          <a:xfrm>
            <a:off x="1415727" y="1587176"/>
            <a:ext cx="4925112" cy="1962424"/>
          </a:xfrm>
          <a:prstGeom prst="rect">
            <a:avLst/>
          </a:prstGeom>
        </p:spPr>
      </p:pic>
      <p:pic>
        <p:nvPicPr>
          <p:cNvPr id="4" name="Imagen 3">
            <a:extLst>
              <a:ext uri="{FF2B5EF4-FFF2-40B4-BE49-F238E27FC236}">
                <a16:creationId xmlns:a16="http://schemas.microsoft.com/office/drawing/2014/main" id="{53CF96D0-FD6A-4BFA-B47F-804B2660427A}"/>
              </a:ext>
            </a:extLst>
          </p:cNvPr>
          <p:cNvPicPr>
            <a:picLocks noChangeAspect="1"/>
          </p:cNvPicPr>
          <p:nvPr/>
        </p:nvPicPr>
        <p:blipFill>
          <a:blip r:embed="rId3"/>
          <a:stretch>
            <a:fillRect/>
          </a:stretch>
        </p:blipFill>
        <p:spPr>
          <a:xfrm>
            <a:off x="1415727" y="3549600"/>
            <a:ext cx="4401164" cy="2600688"/>
          </a:xfrm>
          <a:prstGeom prst="rect">
            <a:avLst/>
          </a:prstGeom>
        </p:spPr>
      </p:pic>
      <p:pic>
        <p:nvPicPr>
          <p:cNvPr id="7" name="Imagen 6">
            <a:extLst>
              <a:ext uri="{FF2B5EF4-FFF2-40B4-BE49-F238E27FC236}">
                <a16:creationId xmlns:a16="http://schemas.microsoft.com/office/drawing/2014/main" id="{6A7B3B40-026C-4B48-8848-027A03DCB3B5}"/>
              </a:ext>
            </a:extLst>
          </p:cNvPr>
          <p:cNvPicPr>
            <a:picLocks noChangeAspect="1"/>
          </p:cNvPicPr>
          <p:nvPr/>
        </p:nvPicPr>
        <p:blipFill>
          <a:blip r:embed="rId4"/>
          <a:stretch>
            <a:fillRect/>
          </a:stretch>
        </p:blipFill>
        <p:spPr>
          <a:xfrm>
            <a:off x="7791531" y="2358138"/>
            <a:ext cx="2848373" cy="2638793"/>
          </a:xfrm>
          <a:prstGeom prst="rect">
            <a:avLst/>
          </a:prstGeom>
        </p:spPr>
      </p:pic>
    </p:spTree>
    <p:extLst>
      <p:ext uri="{BB962C8B-B14F-4D97-AF65-F5344CB8AC3E}">
        <p14:creationId xmlns:p14="http://schemas.microsoft.com/office/powerpoint/2010/main" val="210643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C28127-1145-41E4-9711-407C6ECE5F36}"/>
              </a:ext>
            </a:extLst>
          </p:cNvPr>
          <p:cNvSpPr>
            <a:spLocks noGrp="1"/>
          </p:cNvSpPr>
          <p:nvPr>
            <p:ph type="title"/>
          </p:nvPr>
        </p:nvSpPr>
        <p:spPr>
          <a:xfrm>
            <a:off x="1251678" y="368938"/>
            <a:ext cx="10178322" cy="1492132"/>
          </a:xfrm>
        </p:spPr>
        <p:txBody>
          <a:bodyPr/>
          <a:lstStyle/>
          <a:p>
            <a:r>
              <a:rPr lang="es-ES" dirty="0"/>
              <a:t>Diagrama de estados</a:t>
            </a:r>
            <a:endParaRPr lang="es-CO" dirty="0"/>
          </a:p>
        </p:txBody>
      </p:sp>
      <p:pic>
        <p:nvPicPr>
          <p:cNvPr id="5" name="Imagen 4">
            <a:extLst>
              <a:ext uri="{FF2B5EF4-FFF2-40B4-BE49-F238E27FC236}">
                <a16:creationId xmlns:a16="http://schemas.microsoft.com/office/drawing/2014/main" id="{40FE5751-3C49-4042-A3F4-4627E8F7E1C7}"/>
              </a:ext>
            </a:extLst>
          </p:cNvPr>
          <p:cNvPicPr>
            <a:picLocks noChangeAspect="1"/>
          </p:cNvPicPr>
          <p:nvPr/>
        </p:nvPicPr>
        <p:blipFill>
          <a:blip r:embed="rId2"/>
          <a:stretch>
            <a:fillRect/>
          </a:stretch>
        </p:blipFill>
        <p:spPr>
          <a:xfrm>
            <a:off x="2447416" y="1384145"/>
            <a:ext cx="7297168" cy="4896533"/>
          </a:xfrm>
          <a:prstGeom prst="rect">
            <a:avLst/>
          </a:prstGeom>
        </p:spPr>
      </p:pic>
    </p:spTree>
    <p:extLst>
      <p:ext uri="{BB962C8B-B14F-4D97-AF65-F5344CB8AC3E}">
        <p14:creationId xmlns:p14="http://schemas.microsoft.com/office/powerpoint/2010/main" val="8904201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C28127-1145-41E4-9711-407C6ECE5F36}"/>
              </a:ext>
            </a:extLst>
          </p:cNvPr>
          <p:cNvSpPr>
            <a:spLocks noGrp="1"/>
          </p:cNvSpPr>
          <p:nvPr>
            <p:ph type="title"/>
          </p:nvPr>
        </p:nvSpPr>
        <p:spPr>
          <a:xfrm>
            <a:off x="1251678" y="368938"/>
            <a:ext cx="10178322" cy="1492132"/>
          </a:xfrm>
        </p:spPr>
        <p:txBody>
          <a:bodyPr/>
          <a:lstStyle/>
          <a:p>
            <a:r>
              <a:rPr lang="es-ES" dirty="0"/>
              <a:t>Tabla de estados futuros</a:t>
            </a:r>
            <a:endParaRPr lang="es-CO" dirty="0"/>
          </a:p>
        </p:txBody>
      </p:sp>
      <p:pic>
        <p:nvPicPr>
          <p:cNvPr id="4" name="Imagen 3">
            <a:extLst>
              <a:ext uri="{FF2B5EF4-FFF2-40B4-BE49-F238E27FC236}">
                <a16:creationId xmlns:a16="http://schemas.microsoft.com/office/drawing/2014/main" id="{9FCAFE76-FAAE-47F7-BD6C-A8B5CAB3880C}"/>
              </a:ext>
            </a:extLst>
          </p:cNvPr>
          <p:cNvPicPr>
            <a:picLocks noChangeAspect="1"/>
          </p:cNvPicPr>
          <p:nvPr/>
        </p:nvPicPr>
        <p:blipFill>
          <a:blip r:embed="rId2"/>
          <a:stretch>
            <a:fillRect/>
          </a:stretch>
        </p:blipFill>
        <p:spPr>
          <a:xfrm>
            <a:off x="2187207" y="1236028"/>
            <a:ext cx="7817586" cy="5403332"/>
          </a:xfrm>
          <a:prstGeom prst="rect">
            <a:avLst/>
          </a:prstGeom>
        </p:spPr>
      </p:pic>
    </p:spTree>
    <p:extLst>
      <p:ext uri="{BB962C8B-B14F-4D97-AF65-F5344CB8AC3E}">
        <p14:creationId xmlns:p14="http://schemas.microsoft.com/office/powerpoint/2010/main" val="13204555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C28127-1145-41E4-9711-407C6ECE5F36}"/>
              </a:ext>
            </a:extLst>
          </p:cNvPr>
          <p:cNvSpPr>
            <a:spLocks noGrp="1"/>
          </p:cNvSpPr>
          <p:nvPr>
            <p:ph type="title"/>
          </p:nvPr>
        </p:nvSpPr>
        <p:spPr>
          <a:xfrm>
            <a:off x="1251678" y="368938"/>
            <a:ext cx="10178322" cy="1492132"/>
          </a:xfrm>
        </p:spPr>
        <p:txBody>
          <a:bodyPr/>
          <a:lstStyle/>
          <a:p>
            <a:r>
              <a:rPr lang="es-ES" dirty="0"/>
              <a:t>Mapas de </a:t>
            </a:r>
            <a:r>
              <a:rPr lang="es-ES" dirty="0" err="1"/>
              <a:t>karnaugh</a:t>
            </a:r>
            <a:endParaRPr lang="es-CO" dirty="0"/>
          </a:p>
        </p:txBody>
      </p:sp>
      <p:pic>
        <p:nvPicPr>
          <p:cNvPr id="7" name="Imagen 6">
            <a:extLst>
              <a:ext uri="{FF2B5EF4-FFF2-40B4-BE49-F238E27FC236}">
                <a16:creationId xmlns:a16="http://schemas.microsoft.com/office/drawing/2014/main" id="{79A74A60-D375-4FB0-AA32-24380AA29306}"/>
              </a:ext>
            </a:extLst>
          </p:cNvPr>
          <p:cNvPicPr>
            <a:picLocks noChangeAspect="1"/>
          </p:cNvPicPr>
          <p:nvPr/>
        </p:nvPicPr>
        <p:blipFill>
          <a:blip r:embed="rId2"/>
          <a:stretch>
            <a:fillRect/>
          </a:stretch>
        </p:blipFill>
        <p:spPr>
          <a:xfrm>
            <a:off x="3762982" y="1528463"/>
            <a:ext cx="4666035" cy="3801073"/>
          </a:xfrm>
          <a:prstGeom prst="rect">
            <a:avLst/>
          </a:prstGeom>
        </p:spPr>
      </p:pic>
    </p:spTree>
    <p:extLst>
      <p:ext uri="{BB962C8B-B14F-4D97-AF65-F5344CB8AC3E}">
        <p14:creationId xmlns:p14="http://schemas.microsoft.com/office/powerpoint/2010/main" val="35896718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C28127-1145-41E4-9711-407C6ECE5F36}"/>
              </a:ext>
            </a:extLst>
          </p:cNvPr>
          <p:cNvSpPr>
            <a:spLocks noGrp="1"/>
          </p:cNvSpPr>
          <p:nvPr>
            <p:ph type="title"/>
          </p:nvPr>
        </p:nvSpPr>
        <p:spPr>
          <a:xfrm>
            <a:off x="1251678" y="368938"/>
            <a:ext cx="10178322" cy="1492132"/>
          </a:xfrm>
        </p:spPr>
        <p:txBody>
          <a:bodyPr/>
          <a:lstStyle/>
          <a:p>
            <a:r>
              <a:rPr lang="es-ES" dirty="0"/>
              <a:t>Mapas de </a:t>
            </a:r>
            <a:r>
              <a:rPr lang="es-ES" dirty="0" err="1"/>
              <a:t>karnaugh</a:t>
            </a:r>
            <a:endParaRPr lang="es-CO" dirty="0"/>
          </a:p>
        </p:txBody>
      </p:sp>
      <p:pic>
        <p:nvPicPr>
          <p:cNvPr id="5" name="Imagen 4">
            <a:extLst>
              <a:ext uri="{FF2B5EF4-FFF2-40B4-BE49-F238E27FC236}">
                <a16:creationId xmlns:a16="http://schemas.microsoft.com/office/drawing/2014/main" id="{7B9B9162-42F4-47BB-A8FC-E320D1142BCA}"/>
              </a:ext>
            </a:extLst>
          </p:cNvPr>
          <p:cNvPicPr>
            <a:picLocks noChangeAspect="1"/>
          </p:cNvPicPr>
          <p:nvPr/>
        </p:nvPicPr>
        <p:blipFill>
          <a:blip r:embed="rId2"/>
          <a:stretch>
            <a:fillRect/>
          </a:stretch>
        </p:blipFill>
        <p:spPr>
          <a:xfrm>
            <a:off x="1358874" y="1101558"/>
            <a:ext cx="4459456" cy="2798090"/>
          </a:xfrm>
          <a:prstGeom prst="rect">
            <a:avLst/>
          </a:prstGeom>
        </p:spPr>
      </p:pic>
      <p:pic>
        <p:nvPicPr>
          <p:cNvPr id="4" name="Imagen 3">
            <a:extLst>
              <a:ext uri="{FF2B5EF4-FFF2-40B4-BE49-F238E27FC236}">
                <a16:creationId xmlns:a16="http://schemas.microsoft.com/office/drawing/2014/main" id="{77B2C2B7-4B8E-48D1-93BF-798C52C88309}"/>
              </a:ext>
            </a:extLst>
          </p:cNvPr>
          <p:cNvPicPr>
            <a:picLocks noChangeAspect="1"/>
          </p:cNvPicPr>
          <p:nvPr/>
        </p:nvPicPr>
        <p:blipFill>
          <a:blip r:embed="rId3"/>
          <a:stretch>
            <a:fillRect/>
          </a:stretch>
        </p:blipFill>
        <p:spPr>
          <a:xfrm>
            <a:off x="1358874" y="3899648"/>
            <a:ext cx="4268215" cy="2698145"/>
          </a:xfrm>
          <a:prstGeom prst="rect">
            <a:avLst/>
          </a:prstGeom>
        </p:spPr>
      </p:pic>
      <p:pic>
        <p:nvPicPr>
          <p:cNvPr id="8" name="Imagen 7">
            <a:extLst>
              <a:ext uri="{FF2B5EF4-FFF2-40B4-BE49-F238E27FC236}">
                <a16:creationId xmlns:a16="http://schemas.microsoft.com/office/drawing/2014/main" id="{39A42B22-4F91-4323-B7C7-F325B7F95132}"/>
              </a:ext>
            </a:extLst>
          </p:cNvPr>
          <p:cNvPicPr>
            <a:picLocks noChangeAspect="1"/>
          </p:cNvPicPr>
          <p:nvPr/>
        </p:nvPicPr>
        <p:blipFill>
          <a:blip r:embed="rId4"/>
          <a:stretch>
            <a:fillRect/>
          </a:stretch>
        </p:blipFill>
        <p:spPr>
          <a:xfrm>
            <a:off x="5925526" y="2500603"/>
            <a:ext cx="5642939" cy="2463606"/>
          </a:xfrm>
          <a:prstGeom prst="rect">
            <a:avLst/>
          </a:prstGeom>
        </p:spPr>
      </p:pic>
    </p:spTree>
    <p:extLst>
      <p:ext uri="{BB962C8B-B14F-4D97-AF65-F5344CB8AC3E}">
        <p14:creationId xmlns:p14="http://schemas.microsoft.com/office/powerpoint/2010/main" val="22578320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C28127-1145-41E4-9711-407C6ECE5F36}"/>
              </a:ext>
            </a:extLst>
          </p:cNvPr>
          <p:cNvSpPr>
            <a:spLocks noGrp="1"/>
          </p:cNvSpPr>
          <p:nvPr>
            <p:ph type="title"/>
          </p:nvPr>
        </p:nvSpPr>
        <p:spPr>
          <a:xfrm>
            <a:off x="1251678" y="368938"/>
            <a:ext cx="10178322" cy="1492132"/>
          </a:xfrm>
        </p:spPr>
        <p:txBody>
          <a:bodyPr/>
          <a:lstStyle/>
          <a:p>
            <a:r>
              <a:rPr lang="es-ES" dirty="0"/>
              <a:t>Esquemático propuesto</a:t>
            </a:r>
            <a:endParaRPr lang="es-CO" dirty="0"/>
          </a:p>
        </p:txBody>
      </p:sp>
      <p:pic>
        <p:nvPicPr>
          <p:cNvPr id="6" name="Imagen 5">
            <a:extLst>
              <a:ext uri="{FF2B5EF4-FFF2-40B4-BE49-F238E27FC236}">
                <a16:creationId xmlns:a16="http://schemas.microsoft.com/office/drawing/2014/main" id="{D37A23D1-F2CA-4375-9F1E-D26F551EA335}"/>
              </a:ext>
            </a:extLst>
          </p:cNvPr>
          <p:cNvPicPr>
            <a:picLocks noChangeAspect="1"/>
          </p:cNvPicPr>
          <p:nvPr/>
        </p:nvPicPr>
        <p:blipFill>
          <a:blip r:embed="rId2"/>
          <a:stretch>
            <a:fillRect/>
          </a:stretch>
        </p:blipFill>
        <p:spPr>
          <a:xfrm>
            <a:off x="2799890" y="1446066"/>
            <a:ext cx="6592220" cy="4772691"/>
          </a:xfrm>
          <a:prstGeom prst="rect">
            <a:avLst/>
          </a:prstGeom>
        </p:spPr>
      </p:pic>
    </p:spTree>
    <p:extLst>
      <p:ext uri="{BB962C8B-B14F-4D97-AF65-F5344CB8AC3E}">
        <p14:creationId xmlns:p14="http://schemas.microsoft.com/office/powerpoint/2010/main" val="13089001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C28127-1145-41E4-9711-407C6ECE5F36}"/>
              </a:ext>
            </a:extLst>
          </p:cNvPr>
          <p:cNvSpPr>
            <a:spLocks noGrp="1"/>
          </p:cNvSpPr>
          <p:nvPr>
            <p:ph type="title"/>
          </p:nvPr>
        </p:nvSpPr>
        <p:spPr>
          <a:xfrm>
            <a:off x="1251678" y="368938"/>
            <a:ext cx="10178322" cy="1492132"/>
          </a:xfrm>
        </p:spPr>
        <p:txBody>
          <a:bodyPr/>
          <a:lstStyle/>
          <a:p>
            <a:r>
              <a:rPr lang="es-ES" dirty="0"/>
              <a:t>Desarrollo en </a:t>
            </a:r>
            <a:r>
              <a:rPr lang="es-ES" dirty="0" err="1"/>
              <a:t>verilog</a:t>
            </a:r>
            <a:endParaRPr lang="es-CO" dirty="0"/>
          </a:p>
        </p:txBody>
      </p:sp>
      <p:pic>
        <p:nvPicPr>
          <p:cNvPr id="5" name="Imagen 4">
            <a:extLst>
              <a:ext uri="{FF2B5EF4-FFF2-40B4-BE49-F238E27FC236}">
                <a16:creationId xmlns:a16="http://schemas.microsoft.com/office/drawing/2014/main" id="{71D7DC96-7E4B-4A8F-AAEA-829FCF9E079A}"/>
              </a:ext>
            </a:extLst>
          </p:cNvPr>
          <p:cNvPicPr>
            <a:picLocks noChangeAspect="1"/>
          </p:cNvPicPr>
          <p:nvPr/>
        </p:nvPicPr>
        <p:blipFill>
          <a:blip r:embed="rId2"/>
          <a:stretch>
            <a:fillRect/>
          </a:stretch>
        </p:blipFill>
        <p:spPr>
          <a:xfrm>
            <a:off x="1251678" y="3743604"/>
            <a:ext cx="10010775" cy="1495425"/>
          </a:xfrm>
          <a:prstGeom prst="rect">
            <a:avLst/>
          </a:prstGeom>
        </p:spPr>
      </p:pic>
      <p:pic>
        <p:nvPicPr>
          <p:cNvPr id="7" name="Imagen 6">
            <a:extLst>
              <a:ext uri="{FF2B5EF4-FFF2-40B4-BE49-F238E27FC236}">
                <a16:creationId xmlns:a16="http://schemas.microsoft.com/office/drawing/2014/main" id="{E846B6FF-B2F4-4530-B3FC-72E545CACAB9}"/>
              </a:ext>
            </a:extLst>
          </p:cNvPr>
          <p:cNvPicPr>
            <a:picLocks noChangeAspect="1"/>
          </p:cNvPicPr>
          <p:nvPr/>
        </p:nvPicPr>
        <p:blipFill>
          <a:blip r:embed="rId3"/>
          <a:stretch>
            <a:fillRect/>
          </a:stretch>
        </p:blipFill>
        <p:spPr>
          <a:xfrm>
            <a:off x="5136715" y="1581148"/>
            <a:ext cx="1918570" cy="2162456"/>
          </a:xfrm>
          <a:prstGeom prst="rect">
            <a:avLst/>
          </a:prstGeom>
        </p:spPr>
      </p:pic>
    </p:spTree>
    <p:extLst>
      <p:ext uri="{BB962C8B-B14F-4D97-AF65-F5344CB8AC3E}">
        <p14:creationId xmlns:p14="http://schemas.microsoft.com/office/powerpoint/2010/main" val="37562249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C28127-1145-41E4-9711-407C6ECE5F36}"/>
              </a:ext>
            </a:extLst>
          </p:cNvPr>
          <p:cNvSpPr>
            <a:spLocks noGrp="1"/>
          </p:cNvSpPr>
          <p:nvPr>
            <p:ph type="title"/>
          </p:nvPr>
        </p:nvSpPr>
        <p:spPr>
          <a:xfrm>
            <a:off x="1251678" y="368938"/>
            <a:ext cx="10178322" cy="1492132"/>
          </a:xfrm>
        </p:spPr>
        <p:txBody>
          <a:bodyPr/>
          <a:lstStyle/>
          <a:p>
            <a:r>
              <a:rPr lang="es-ES" dirty="0"/>
              <a:t>Desarrollo en </a:t>
            </a:r>
            <a:r>
              <a:rPr lang="es-ES" dirty="0" err="1"/>
              <a:t>verilog</a:t>
            </a:r>
            <a:endParaRPr lang="es-CO" dirty="0"/>
          </a:p>
        </p:txBody>
      </p:sp>
      <p:pic>
        <p:nvPicPr>
          <p:cNvPr id="5" name="Imagen 4">
            <a:extLst>
              <a:ext uri="{FF2B5EF4-FFF2-40B4-BE49-F238E27FC236}">
                <a16:creationId xmlns:a16="http://schemas.microsoft.com/office/drawing/2014/main" id="{715A7798-A450-4506-BD97-7C0096214FE5}"/>
              </a:ext>
            </a:extLst>
          </p:cNvPr>
          <p:cNvPicPr>
            <a:picLocks noChangeAspect="1"/>
          </p:cNvPicPr>
          <p:nvPr/>
        </p:nvPicPr>
        <p:blipFill>
          <a:blip r:embed="rId2"/>
          <a:stretch>
            <a:fillRect/>
          </a:stretch>
        </p:blipFill>
        <p:spPr>
          <a:xfrm>
            <a:off x="2749899" y="1452283"/>
            <a:ext cx="6979047" cy="4445653"/>
          </a:xfrm>
          <a:prstGeom prst="rect">
            <a:avLst/>
          </a:prstGeom>
        </p:spPr>
      </p:pic>
    </p:spTree>
    <p:extLst>
      <p:ext uri="{BB962C8B-B14F-4D97-AF65-F5344CB8AC3E}">
        <p14:creationId xmlns:p14="http://schemas.microsoft.com/office/powerpoint/2010/main" val="521334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C28127-1145-41E4-9711-407C6ECE5F36}"/>
              </a:ext>
            </a:extLst>
          </p:cNvPr>
          <p:cNvSpPr>
            <a:spLocks noGrp="1"/>
          </p:cNvSpPr>
          <p:nvPr>
            <p:ph type="title"/>
          </p:nvPr>
        </p:nvSpPr>
        <p:spPr>
          <a:xfrm>
            <a:off x="1251678" y="368938"/>
            <a:ext cx="10178322" cy="1492132"/>
          </a:xfrm>
        </p:spPr>
        <p:txBody>
          <a:bodyPr/>
          <a:lstStyle/>
          <a:p>
            <a:r>
              <a:rPr lang="es-ES" dirty="0"/>
              <a:t>Desarrollo en </a:t>
            </a:r>
            <a:r>
              <a:rPr lang="es-ES" dirty="0" err="1"/>
              <a:t>verilog</a:t>
            </a:r>
            <a:endParaRPr lang="es-CO" dirty="0"/>
          </a:p>
        </p:txBody>
      </p:sp>
      <p:pic>
        <p:nvPicPr>
          <p:cNvPr id="5" name="Imagen 4">
            <a:extLst>
              <a:ext uri="{FF2B5EF4-FFF2-40B4-BE49-F238E27FC236}">
                <a16:creationId xmlns:a16="http://schemas.microsoft.com/office/drawing/2014/main" id="{867D735E-C851-414E-8D9D-361340C4BB22}"/>
              </a:ext>
            </a:extLst>
          </p:cNvPr>
          <p:cNvPicPr>
            <a:picLocks noChangeAspect="1"/>
          </p:cNvPicPr>
          <p:nvPr/>
        </p:nvPicPr>
        <p:blipFill>
          <a:blip r:embed="rId2"/>
          <a:stretch>
            <a:fillRect/>
          </a:stretch>
        </p:blipFill>
        <p:spPr>
          <a:xfrm>
            <a:off x="3227855" y="1218132"/>
            <a:ext cx="5467350" cy="1285875"/>
          </a:xfrm>
          <a:prstGeom prst="rect">
            <a:avLst/>
          </a:prstGeom>
        </p:spPr>
      </p:pic>
      <p:pic>
        <p:nvPicPr>
          <p:cNvPr id="6" name="Imagen 5">
            <a:extLst>
              <a:ext uri="{FF2B5EF4-FFF2-40B4-BE49-F238E27FC236}">
                <a16:creationId xmlns:a16="http://schemas.microsoft.com/office/drawing/2014/main" id="{FFE3F7E2-6884-4ACF-B0EE-21E20F726E46}"/>
              </a:ext>
            </a:extLst>
          </p:cNvPr>
          <p:cNvPicPr>
            <a:picLocks noChangeAspect="1"/>
          </p:cNvPicPr>
          <p:nvPr/>
        </p:nvPicPr>
        <p:blipFill>
          <a:blip r:embed="rId3"/>
          <a:stretch>
            <a:fillRect/>
          </a:stretch>
        </p:blipFill>
        <p:spPr>
          <a:xfrm>
            <a:off x="3051860" y="2504007"/>
            <a:ext cx="6577958" cy="4190159"/>
          </a:xfrm>
          <a:prstGeom prst="rect">
            <a:avLst/>
          </a:prstGeom>
        </p:spPr>
      </p:pic>
    </p:spTree>
    <p:extLst>
      <p:ext uri="{BB962C8B-B14F-4D97-AF65-F5344CB8AC3E}">
        <p14:creationId xmlns:p14="http://schemas.microsoft.com/office/powerpoint/2010/main" val="5580531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C28127-1145-41E4-9711-407C6ECE5F36}"/>
              </a:ext>
            </a:extLst>
          </p:cNvPr>
          <p:cNvSpPr>
            <a:spLocks noGrp="1"/>
          </p:cNvSpPr>
          <p:nvPr>
            <p:ph type="title"/>
          </p:nvPr>
        </p:nvSpPr>
        <p:spPr>
          <a:xfrm>
            <a:off x="1251678" y="368938"/>
            <a:ext cx="10178322" cy="1492132"/>
          </a:xfrm>
        </p:spPr>
        <p:txBody>
          <a:bodyPr/>
          <a:lstStyle/>
          <a:p>
            <a:r>
              <a:rPr lang="es-ES" dirty="0"/>
              <a:t>Desarrollo en </a:t>
            </a:r>
            <a:r>
              <a:rPr lang="es-ES" dirty="0" err="1"/>
              <a:t>verilog</a:t>
            </a:r>
            <a:endParaRPr lang="es-CO" dirty="0"/>
          </a:p>
        </p:txBody>
      </p:sp>
      <p:pic>
        <p:nvPicPr>
          <p:cNvPr id="4" name="Imagen 3">
            <a:extLst>
              <a:ext uri="{FF2B5EF4-FFF2-40B4-BE49-F238E27FC236}">
                <a16:creationId xmlns:a16="http://schemas.microsoft.com/office/drawing/2014/main" id="{8CD85CC3-1342-4173-AB93-EF91E6DE734C}"/>
              </a:ext>
            </a:extLst>
          </p:cNvPr>
          <p:cNvPicPr>
            <a:picLocks noChangeAspect="1"/>
          </p:cNvPicPr>
          <p:nvPr/>
        </p:nvPicPr>
        <p:blipFill>
          <a:blip r:embed="rId2"/>
          <a:stretch>
            <a:fillRect/>
          </a:stretch>
        </p:blipFill>
        <p:spPr>
          <a:xfrm>
            <a:off x="3362325" y="1360674"/>
            <a:ext cx="5467350" cy="1285875"/>
          </a:xfrm>
          <a:prstGeom prst="rect">
            <a:avLst/>
          </a:prstGeom>
        </p:spPr>
      </p:pic>
      <p:pic>
        <p:nvPicPr>
          <p:cNvPr id="6" name="Imagen 5">
            <a:extLst>
              <a:ext uri="{FF2B5EF4-FFF2-40B4-BE49-F238E27FC236}">
                <a16:creationId xmlns:a16="http://schemas.microsoft.com/office/drawing/2014/main" id="{AE26E0F3-7193-4A4F-9142-BE0492AD20CA}"/>
              </a:ext>
            </a:extLst>
          </p:cNvPr>
          <p:cNvPicPr>
            <a:picLocks noChangeAspect="1"/>
          </p:cNvPicPr>
          <p:nvPr/>
        </p:nvPicPr>
        <p:blipFill>
          <a:blip r:embed="rId3"/>
          <a:stretch>
            <a:fillRect/>
          </a:stretch>
        </p:blipFill>
        <p:spPr>
          <a:xfrm>
            <a:off x="3138198" y="2646549"/>
            <a:ext cx="6405282" cy="3633299"/>
          </a:xfrm>
          <a:prstGeom prst="rect">
            <a:avLst/>
          </a:prstGeom>
        </p:spPr>
      </p:pic>
    </p:spTree>
    <p:extLst>
      <p:ext uri="{BB962C8B-B14F-4D97-AF65-F5344CB8AC3E}">
        <p14:creationId xmlns:p14="http://schemas.microsoft.com/office/powerpoint/2010/main" val="4225479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C28127-1145-41E4-9711-407C6ECE5F36}"/>
              </a:ext>
            </a:extLst>
          </p:cNvPr>
          <p:cNvSpPr>
            <a:spLocks noGrp="1"/>
          </p:cNvSpPr>
          <p:nvPr>
            <p:ph type="title"/>
          </p:nvPr>
        </p:nvSpPr>
        <p:spPr>
          <a:xfrm>
            <a:off x="1251678" y="368938"/>
            <a:ext cx="10178322" cy="1492132"/>
          </a:xfrm>
        </p:spPr>
        <p:txBody>
          <a:bodyPr/>
          <a:lstStyle/>
          <a:p>
            <a:r>
              <a:rPr lang="es-ES" dirty="0"/>
              <a:t>Desarrollo en </a:t>
            </a:r>
            <a:r>
              <a:rPr lang="es-ES" dirty="0" err="1"/>
              <a:t>verilog</a:t>
            </a:r>
            <a:endParaRPr lang="es-CO" dirty="0"/>
          </a:p>
        </p:txBody>
      </p:sp>
      <p:pic>
        <p:nvPicPr>
          <p:cNvPr id="5" name="Imagen 4">
            <a:extLst>
              <a:ext uri="{FF2B5EF4-FFF2-40B4-BE49-F238E27FC236}">
                <a16:creationId xmlns:a16="http://schemas.microsoft.com/office/drawing/2014/main" id="{6E57C655-FF03-48E4-A712-5BA23375CCDF}"/>
              </a:ext>
            </a:extLst>
          </p:cNvPr>
          <p:cNvPicPr>
            <a:picLocks noChangeAspect="1"/>
          </p:cNvPicPr>
          <p:nvPr/>
        </p:nvPicPr>
        <p:blipFill>
          <a:blip r:embed="rId2"/>
          <a:stretch>
            <a:fillRect/>
          </a:stretch>
        </p:blipFill>
        <p:spPr>
          <a:xfrm>
            <a:off x="3362325" y="1218132"/>
            <a:ext cx="5467350" cy="1285875"/>
          </a:xfrm>
          <a:prstGeom prst="rect">
            <a:avLst/>
          </a:prstGeom>
        </p:spPr>
      </p:pic>
      <p:pic>
        <p:nvPicPr>
          <p:cNvPr id="7" name="Imagen 6">
            <a:extLst>
              <a:ext uri="{FF2B5EF4-FFF2-40B4-BE49-F238E27FC236}">
                <a16:creationId xmlns:a16="http://schemas.microsoft.com/office/drawing/2014/main" id="{A12FDF5A-1451-4B6F-90FE-08A72D48DCF0}"/>
              </a:ext>
            </a:extLst>
          </p:cNvPr>
          <p:cNvPicPr>
            <a:picLocks noChangeAspect="1"/>
          </p:cNvPicPr>
          <p:nvPr/>
        </p:nvPicPr>
        <p:blipFill>
          <a:blip r:embed="rId3"/>
          <a:stretch>
            <a:fillRect/>
          </a:stretch>
        </p:blipFill>
        <p:spPr>
          <a:xfrm>
            <a:off x="2825553" y="2683370"/>
            <a:ext cx="7030571" cy="4101166"/>
          </a:xfrm>
          <a:prstGeom prst="rect">
            <a:avLst/>
          </a:prstGeom>
        </p:spPr>
      </p:pic>
    </p:spTree>
    <p:extLst>
      <p:ext uri="{BB962C8B-B14F-4D97-AF65-F5344CB8AC3E}">
        <p14:creationId xmlns:p14="http://schemas.microsoft.com/office/powerpoint/2010/main" val="38419237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C28127-1145-41E4-9711-407C6ECE5F36}"/>
              </a:ext>
            </a:extLst>
          </p:cNvPr>
          <p:cNvSpPr>
            <a:spLocks noGrp="1"/>
          </p:cNvSpPr>
          <p:nvPr>
            <p:ph type="title"/>
          </p:nvPr>
        </p:nvSpPr>
        <p:spPr>
          <a:xfrm>
            <a:off x="1251678" y="368938"/>
            <a:ext cx="10178322" cy="1492132"/>
          </a:xfrm>
        </p:spPr>
        <p:txBody>
          <a:bodyPr/>
          <a:lstStyle/>
          <a:p>
            <a:r>
              <a:rPr lang="es-ES" dirty="0"/>
              <a:t>Diagrama de cajas para conexión en </a:t>
            </a:r>
            <a:r>
              <a:rPr lang="es-ES" dirty="0" err="1"/>
              <a:t>top.v</a:t>
            </a:r>
            <a:endParaRPr lang="es-CO" dirty="0"/>
          </a:p>
        </p:txBody>
      </p:sp>
      <p:pic>
        <p:nvPicPr>
          <p:cNvPr id="5" name="Imagen 4">
            <a:extLst>
              <a:ext uri="{FF2B5EF4-FFF2-40B4-BE49-F238E27FC236}">
                <a16:creationId xmlns:a16="http://schemas.microsoft.com/office/drawing/2014/main" id="{B9352C96-B6E3-4D82-ACD3-BCECC8407940}"/>
              </a:ext>
            </a:extLst>
          </p:cNvPr>
          <p:cNvPicPr>
            <a:picLocks noChangeAspect="1"/>
          </p:cNvPicPr>
          <p:nvPr/>
        </p:nvPicPr>
        <p:blipFill>
          <a:blip r:embed="rId2"/>
          <a:stretch>
            <a:fillRect/>
          </a:stretch>
        </p:blipFill>
        <p:spPr>
          <a:xfrm>
            <a:off x="1485256" y="2284319"/>
            <a:ext cx="9221487" cy="4010585"/>
          </a:xfrm>
          <a:prstGeom prst="rect">
            <a:avLst/>
          </a:prstGeom>
        </p:spPr>
      </p:pic>
    </p:spTree>
    <p:extLst>
      <p:ext uri="{BB962C8B-B14F-4D97-AF65-F5344CB8AC3E}">
        <p14:creationId xmlns:p14="http://schemas.microsoft.com/office/powerpoint/2010/main" val="1741573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C28127-1145-41E4-9711-407C6ECE5F36}"/>
              </a:ext>
            </a:extLst>
          </p:cNvPr>
          <p:cNvSpPr>
            <a:spLocks noGrp="1"/>
          </p:cNvSpPr>
          <p:nvPr>
            <p:ph type="title"/>
          </p:nvPr>
        </p:nvSpPr>
        <p:spPr>
          <a:xfrm>
            <a:off x="1251678" y="368938"/>
            <a:ext cx="10178322" cy="1492132"/>
          </a:xfrm>
        </p:spPr>
        <p:txBody>
          <a:bodyPr/>
          <a:lstStyle/>
          <a:p>
            <a:r>
              <a:rPr lang="es-ES" dirty="0"/>
              <a:t>Desarrollo en </a:t>
            </a:r>
            <a:r>
              <a:rPr lang="es-ES" dirty="0" err="1"/>
              <a:t>verilog</a:t>
            </a:r>
            <a:endParaRPr lang="es-CO" dirty="0"/>
          </a:p>
        </p:txBody>
      </p:sp>
      <p:pic>
        <p:nvPicPr>
          <p:cNvPr id="5" name="Imagen 4">
            <a:extLst>
              <a:ext uri="{FF2B5EF4-FFF2-40B4-BE49-F238E27FC236}">
                <a16:creationId xmlns:a16="http://schemas.microsoft.com/office/drawing/2014/main" id="{79E5D7A7-5465-49FA-AB0A-914F96DF8797}"/>
              </a:ext>
            </a:extLst>
          </p:cNvPr>
          <p:cNvPicPr>
            <a:picLocks noChangeAspect="1"/>
          </p:cNvPicPr>
          <p:nvPr/>
        </p:nvPicPr>
        <p:blipFill>
          <a:blip r:embed="rId2"/>
          <a:stretch>
            <a:fillRect/>
          </a:stretch>
        </p:blipFill>
        <p:spPr>
          <a:xfrm>
            <a:off x="3885219" y="1182240"/>
            <a:ext cx="4421561" cy="1845660"/>
          </a:xfrm>
          <a:prstGeom prst="rect">
            <a:avLst/>
          </a:prstGeom>
        </p:spPr>
      </p:pic>
      <p:pic>
        <p:nvPicPr>
          <p:cNvPr id="7" name="Imagen 6">
            <a:extLst>
              <a:ext uri="{FF2B5EF4-FFF2-40B4-BE49-F238E27FC236}">
                <a16:creationId xmlns:a16="http://schemas.microsoft.com/office/drawing/2014/main" id="{1CA730E5-2951-49C0-B8CB-0AA5A1F5890A}"/>
              </a:ext>
            </a:extLst>
          </p:cNvPr>
          <p:cNvPicPr>
            <a:picLocks noChangeAspect="1"/>
          </p:cNvPicPr>
          <p:nvPr/>
        </p:nvPicPr>
        <p:blipFill>
          <a:blip r:embed="rId3"/>
          <a:stretch>
            <a:fillRect/>
          </a:stretch>
        </p:blipFill>
        <p:spPr>
          <a:xfrm>
            <a:off x="1090611" y="3093489"/>
            <a:ext cx="10010775" cy="1495425"/>
          </a:xfrm>
          <a:prstGeom prst="rect">
            <a:avLst/>
          </a:prstGeom>
        </p:spPr>
      </p:pic>
    </p:spTree>
    <p:extLst>
      <p:ext uri="{BB962C8B-B14F-4D97-AF65-F5344CB8AC3E}">
        <p14:creationId xmlns:p14="http://schemas.microsoft.com/office/powerpoint/2010/main" val="797175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EB9868-9EBA-4394-9BF7-16ACB4FB4DC2}"/>
              </a:ext>
            </a:extLst>
          </p:cNvPr>
          <p:cNvSpPr>
            <a:spLocks noGrp="1"/>
          </p:cNvSpPr>
          <p:nvPr>
            <p:ph type="title"/>
          </p:nvPr>
        </p:nvSpPr>
        <p:spPr/>
        <p:txBody>
          <a:bodyPr/>
          <a:lstStyle/>
          <a:p>
            <a:r>
              <a:rPr lang="es-ES" dirty="0"/>
              <a:t>Montaje físico</a:t>
            </a:r>
            <a:endParaRPr lang="es-CO" dirty="0"/>
          </a:p>
        </p:txBody>
      </p:sp>
      <p:sp>
        <p:nvSpPr>
          <p:cNvPr id="3" name="Marcador de texto 2">
            <a:extLst>
              <a:ext uri="{FF2B5EF4-FFF2-40B4-BE49-F238E27FC236}">
                <a16:creationId xmlns:a16="http://schemas.microsoft.com/office/drawing/2014/main" id="{F4B72F37-BFD2-43D6-BC3C-4D2C7D98CFE8}"/>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16760412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1F73F5-C90C-4EBB-A19B-98B8DCA97465}"/>
              </a:ext>
            </a:extLst>
          </p:cNvPr>
          <p:cNvSpPr>
            <a:spLocks noGrp="1"/>
          </p:cNvSpPr>
          <p:nvPr>
            <p:ph type="title"/>
          </p:nvPr>
        </p:nvSpPr>
        <p:spPr/>
        <p:txBody>
          <a:bodyPr/>
          <a:lstStyle/>
          <a:p>
            <a:r>
              <a:rPr lang="es-ES" dirty="0"/>
              <a:t>Montaje físico</a:t>
            </a:r>
            <a:endParaRPr lang="es-CO" dirty="0"/>
          </a:p>
        </p:txBody>
      </p:sp>
      <p:pic>
        <p:nvPicPr>
          <p:cNvPr id="5" name="Imagen 4">
            <a:extLst>
              <a:ext uri="{FF2B5EF4-FFF2-40B4-BE49-F238E27FC236}">
                <a16:creationId xmlns:a16="http://schemas.microsoft.com/office/drawing/2014/main" id="{98765B9A-523A-45BE-ADBF-784BAD543BF3}"/>
              </a:ext>
            </a:extLst>
          </p:cNvPr>
          <p:cNvPicPr>
            <a:picLocks noChangeAspect="1"/>
          </p:cNvPicPr>
          <p:nvPr/>
        </p:nvPicPr>
        <p:blipFill rotWithShape="1">
          <a:blip r:embed="rId2"/>
          <a:srcRect t="19804" b="27333"/>
          <a:stretch/>
        </p:blipFill>
        <p:spPr>
          <a:xfrm>
            <a:off x="6559691" y="1874517"/>
            <a:ext cx="4720381" cy="4438294"/>
          </a:xfrm>
          <a:prstGeom prst="rect">
            <a:avLst/>
          </a:prstGeom>
        </p:spPr>
      </p:pic>
      <p:sp>
        <p:nvSpPr>
          <p:cNvPr id="6" name="AutoShape 4">
            <a:extLst>
              <a:ext uri="{FF2B5EF4-FFF2-40B4-BE49-F238E27FC236}">
                <a16:creationId xmlns:a16="http://schemas.microsoft.com/office/drawing/2014/main" id="{5035F7BB-6CFB-47E5-B820-0C90EE29908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8" name="Imagen 7">
            <a:extLst>
              <a:ext uri="{FF2B5EF4-FFF2-40B4-BE49-F238E27FC236}">
                <a16:creationId xmlns:a16="http://schemas.microsoft.com/office/drawing/2014/main" id="{D5C63089-203C-4505-87D4-61E5BEEAE6D9}"/>
              </a:ext>
            </a:extLst>
          </p:cNvPr>
          <p:cNvPicPr>
            <a:picLocks noChangeAspect="1"/>
          </p:cNvPicPr>
          <p:nvPr/>
        </p:nvPicPr>
        <p:blipFill>
          <a:blip r:embed="rId3"/>
          <a:stretch>
            <a:fillRect/>
          </a:stretch>
        </p:blipFill>
        <p:spPr>
          <a:xfrm>
            <a:off x="1210172" y="2037320"/>
            <a:ext cx="4008625" cy="4134879"/>
          </a:xfrm>
          <a:prstGeom prst="rect">
            <a:avLst/>
          </a:prstGeom>
        </p:spPr>
      </p:pic>
    </p:spTree>
    <p:extLst>
      <p:ext uri="{BB962C8B-B14F-4D97-AF65-F5344CB8AC3E}">
        <p14:creationId xmlns:p14="http://schemas.microsoft.com/office/powerpoint/2010/main" val="29224116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1F73F5-C90C-4EBB-A19B-98B8DCA97465}"/>
              </a:ext>
            </a:extLst>
          </p:cNvPr>
          <p:cNvSpPr>
            <a:spLocks noGrp="1"/>
          </p:cNvSpPr>
          <p:nvPr>
            <p:ph type="title"/>
          </p:nvPr>
        </p:nvSpPr>
        <p:spPr/>
        <p:txBody>
          <a:bodyPr/>
          <a:lstStyle/>
          <a:p>
            <a:r>
              <a:rPr lang="es-ES" dirty="0"/>
              <a:t>Montaje físico</a:t>
            </a:r>
            <a:endParaRPr lang="es-CO" dirty="0"/>
          </a:p>
        </p:txBody>
      </p:sp>
      <p:sp>
        <p:nvSpPr>
          <p:cNvPr id="6" name="AutoShape 4">
            <a:extLst>
              <a:ext uri="{FF2B5EF4-FFF2-40B4-BE49-F238E27FC236}">
                <a16:creationId xmlns:a16="http://schemas.microsoft.com/office/drawing/2014/main" id="{5035F7BB-6CFB-47E5-B820-0C90EE29908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3" name="WhatsApp Video 2025-12-11 at 20.31.24">
            <a:hlinkClick r:id="" action="ppaction://media"/>
            <a:extLst>
              <a:ext uri="{FF2B5EF4-FFF2-40B4-BE49-F238E27FC236}">
                <a16:creationId xmlns:a16="http://schemas.microsoft.com/office/drawing/2014/main" id="{7B594326-3BDA-4624-89B5-84CE7459B4F0}"/>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209800" y="1694329"/>
            <a:ext cx="8077200" cy="4572000"/>
          </a:xfrm>
          <a:prstGeom prst="rect">
            <a:avLst/>
          </a:prstGeom>
        </p:spPr>
      </p:pic>
    </p:spTree>
    <p:extLst>
      <p:ext uri="{BB962C8B-B14F-4D97-AF65-F5344CB8AC3E}">
        <p14:creationId xmlns:p14="http://schemas.microsoft.com/office/powerpoint/2010/main" val="1224156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298"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97AE54-B529-4417-AF22-983E4090F7F8}"/>
              </a:ext>
            </a:extLst>
          </p:cNvPr>
          <p:cNvSpPr>
            <a:spLocks noGrp="1"/>
          </p:cNvSpPr>
          <p:nvPr>
            <p:ph type="title"/>
          </p:nvPr>
        </p:nvSpPr>
        <p:spPr/>
        <p:txBody>
          <a:bodyPr/>
          <a:lstStyle/>
          <a:p>
            <a:r>
              <a:rPr lang="es-ES" dirty="0"/>
              <a:t>Retos</a:t>
            </a:r>
            <a:endParaRPr lang="es-CO" dirty="0"/>
          </a:p>
        </p:txBody>
      </p:sp>
      <p:sp>
        <p:nvSpPr>
          <p:cNvPr id="3" name="Marcador de texto 2">
            <a:extLst>
              <a:ext uri="{FF2B5EF4-FFF2-40B4-BE49-F238E27FC236}">
                <a16:creationId xmlns:a16="http://schemas.microsoft.com/office/drawing/2014/main" id="{6DBDAAB0-EAD2-468F-8F34-F8CBE3713704}"/>
              </a:ext>
            </a:extLst>
          </p:cNvPr>
          <p:cNvSpPr>
            <a:spLocks noGrp="1"/>
          </p:cNvSpPr>
          <p:nvPr>
            <p:ph type="body" idx="1"/>
          </p:nvPr>
        </p:nvSpPr>
        <p:spPr/>
        <p:txBody>
          <a:bodyPr>
            <a:normAutofit fontScale="92500" lnSpcReduction="20000"/>
          </a:bodyPr>
          <a:lstStyle/>
          <a:p>
            <a:r>
              <a:rPr lang="es-ES" dirty="0"/>
              <a:t>¿Qué problemas tuvimos que pudimos resolver?</a:t>
            </a:r>
          </a:p>
          <a:p>
            <a:r>
              <a:rPr lang="es-ES" dirty="0"/>
              <a:t>¿Cómo los resolvimos?</a:t>
            </a:r>
            <a:endParaRPr lang="es-CO" dirty="0"/>
          </a:p>
        </p:txBody>
      </p:sp>
    </p:spTree>
    <p:extLst>
      <p:ext uri="{BB962C8B-B14F-4D97-AF65-F5344CB8AC3E}">
        <p14:creationId xmlns:p14="http://schemas.microsoft.com/office/powerpoint/2010/main" val="15991513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8" name="Picture 6" descr="lindo hombre con signo de interrogación sobre la cabeza 1937335 Vector en  Vecteezy">
            <a:extLst>
              <a:ext uri="{FF2B5EF4-FFF2-40B4-BE49-F238E27FC236}">
                <a16:creationId xmlns:a16="http://schemas.microsoft.com/office/drawing/2014/main" id="{004299F4-57B9-4E9D-B64C-8A373DF430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3406" y="2082394"/>
            <a:ext cx="5945187" cy="4775606"/>
          </a:xfrm>
          <a:prstGeom prst="rect">
            <a:avLst/>
          </a:prstGeom>
          <a:noFill/>
          <a:extLst>
            <a:ext uri="{909E8E84-426E-40DD-AFC4-6F175D3DCCD1}">
              <a14:hiddenFill xmlns:a14="http://schemas.microsoft.com/office/drawing/2010/main">
                <a:solidFill>
                  <a:srgbClr val="FFFFFF"/>
                </a:solidFill>
              </a14:hiddenFill>
            </a:ext>
          </a:extLst>
        </p:spPr>
      </p:pic>
      <p:sp>
        <p:nvSpPr>
          <p:cNvPr id="8" name="Título 1">
            <a:extLst>
              <a:ext uri="{FF2B5EF4-FFF2-40B4-BE49-F238E27FC236}">
                <a16:creationId xmlns:a16="http://schemas.microsoft.com/office/drawing/2014/main" id="{51FE1059-A432-47C5-8138-AAB27DF2134B}"/>
              </a:ext>
            </a:extLst>
          </p:cNvPr>
          <p:cNvSpPr>
            <a:spLocks noGrp="1"/>
          </p:cNvSpPr>
          <p:nvPr>
            <p:ph type="title"/>
          </p:nvPr>
        </p:nvSpPr>
        <p:spPr>
          <a:xfrm>
            <a:off x="1251678" y="382385"/>
            <a:ext cx="10178322" cy="1492132"/>
          </a:xfrm>
        </p:spPr>
        <p:txBody>
          <a:bodyPr/>
          <a:lstStyle/>
          <a:p>
            <a:r>
              <a:rPr lang="es-ES" dirty="0"/>
              <a:t>Retos</a:t>
            </a:r>
            <a:endParaRPr lang="es-CO" dirty="0"/>
          </a:p>
        </p:txBody>
      </p:sp>
    </p:spTree>
    <p:extLst>
      <p:ext uri="{BB962C8B-B14F-4D97-AF65-F5344CB8AC3E}">
        <p14:creationId xmlns:p14="http://schemas.microsoft.com/office/powerpoint/2010/main" val="2275274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97AE54-B529-4417-AF22-983E4090F7F8}"/>
              </a:ext>
            </a:extLst>
          </p:cNvPr>
          <p:cNvSpPr>
            <a:spLocks noGrp="1"/>
          </p:cNvSpPr>
          <p:nvPr>
            <p:ph type="title"/>
          </p:nvPr>
        </p:nvSpPr>
        <p:spPr>
          <a:xfrm>
            <a:off x="3242929" y="1073888"/>
            <a:ext cx="8603930" cy="4064627"/>
          </a:xfrm>
        </p:spPr>
        <p:txBody>
          <a:bodyPr/>
          <a:lstStyle/>
          <a:p>
            <a:r>
              <a:rPr lang="es-ES" dirty="0"/>
              <a:t>Oportunidades de mejora</a:t>
            </a:r>
            <a:endParaRPr lang="es-CO" dirty="0"/>
          </a:p>
        </p:txBody>
      </p:sp>
      <p:sp>
        <p:nvSpPr>
          <p:cNvPr id="3" name="Marcador de texto 2">
            <a:extLst>
              <a:ext uri="{FF2B5EF4-FFF2-40B4-BE49-F238E27FC236}">
                <a16:creationId xmlns:a16="http://schemas.microsoft.com/office/drawing/2014/main" id="{6DBDAAB0-EAD2-468F-8F34-F8CBE3713704}"/>
              </a:ext>
            </a:extLst>
          </p:cNvPr>
          <p:cNvSpPr>
            <a:spLocks noGrp="1"/>
          </p:cNvSpPr>
          <p:nvPr>
            <p:ph type="body" idx="1"/>
          </p:nvPr>
        </p:nvSpPr>
        <p:spPr/>
        <p:txBody>
          <a:bodyPr>
            <a:normAutofit/>
          </a:bodyPr>
          <a:lstStyle/>
          <a:p>
            <a:r>
              <a:rPr lang="es-ES" dirty="0"/>
              <a:t>¿qué consideraciones debemos tener para siguientes proyectos?</a:t>
            </a:r>
            <a:endParaRPr lang="es-CO" dirty="0"/>
          </a:p>
        </p:txBody>
      </p:sp>
    </p:spTree>
    <p:extLst>
      <p:ext uri="{BB962C8B-B14F-4D97-AF65-F5344CB8AC3E}">
        <p14:creationId xmlns:p14="http://schemas.microsoft.com/office/powerpoint/2010/main" val="11283900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1">
            <a:extLst>
              <a:ext uri="{FF2B5EF4-FFF2-40B4-BE49-F238E27FC236}">
                <a16:creationId xmlns:a16="http://schemas.microsoft.com/office/drawing/2014/main" id="{51FE1059-A432-47C5-8138-AAB27DF2134B}"/>
              </a:ext>
            </a:extLst>
          </p:cNvPr>
          <p:cNvSpPr>
            <a:spLocks noGrp="1"/>
          </p:cNvSpPr>
          <p:nvPr>
            <p:ph type="title"/>
          </p:nvPr>
        </p:nvSpPr>
        <p:spPr>
          <a:xfrm>
            <a:off x="1251678" y="382385"/>
            <a:ext cx="10178322" cy="1492132"/>
          </a:xfrm>
        </p:spPr>
        <p:txBody>
          <a:bodyPr/>
          <a:lstStyle/>
          <a:p>
            <a:r>
              <a:rPr lang="es-ES" dirty="0"/>
              <a:t>UART</a:t>
            </a:r>
            <a:endParaRPr lang="es-CO" dirty="0"/>
          </a:p>
        </p:txBody>
      </p:sp>
      <p:pic>
        <p:nvPicPr>
          <p:cNvPr id="3" name="Imagen 2">
            <a:extLst>
              <a:ext uri="{FF2B5EF4-FFF2-40B4-BE49-F238E27FC236}">
                <a16:creationId xmlns:a16="http://schemas.microsoft.com/office/drawing/2014/main" id="{4FD1E961-60A2-4111-A749-8D6E63FAB747}"/>
              </a:ext>
            </a:extLst>
          </p:cNvPr>
          <p:cNvPicPr>
            <a:picLocks noChangeAspect="1"/>
          </p:cNvPicPr>
          <p:nvPr/>
        </p:nvPicPr>
        <p:blipFill>
          <a:blip r:embed="rId2"/>
          <a:stretch>
            <a:fillRect/>
          </a:stretch>
        </p:blipFill>
        <p:spPr>
          <a:xfrm>
            <a:off x="1983442" y="1020876"/>
            <a:ext cx="8720418" cy="2641774"/>
          </a:xfrm>
          <a:prstGeom prst="rect">
            <a:avLst/>
          </a:prstGeom>
        </p:spPr>
      </p:pic>
      <p:pic>
        <p:nvPicPr>
          <p:cNvPr id="5" name="Imagen 4">
            <a:extLst>
              <a:ext uri="{FF2B5EF4-FFF2-40B4-BE49-F238E27FC236}">
                <a16:creationId xmlns:a16="http://schemas.microsoft.com/office/drawing/2014/main" id="{44C33B28-897E-4800-A2CB-C30A77787088}"/>
              </a:ext>
            </a:extLst>
          </p:cNvPr>
          <p:cNvPicPr>
            <a:picLocks noChangeAspect="1"/>
          </p:cNvPicPr>
          <p:nvPr/>
        </p:nvPicPr>
        <p:blipFill>
          <a:blip r:embed="rId3"/>
          <a:stretch>
            <a:fillRect/>
          </a:stretch>
        </p:blipFill>
        <p:spPr>
          <a:xfrm>
            <a:off x="1983442" y="3662650"/>
            <a:ext cx="8720418" cy="2641773"/>
          </a:xfrm>
          <a:prstGeom prst="rect">
            <a:avLst/>
          </a:prstGeom>
        </p:spPr>
      </p:pic>
    </p:spTree>
    <p:extLst>
      <p:ext uri="{BB962C8B-B14F-4D97-AF65-F5344CB8AC3E}">
        <p14:creationId xmlns:p14="http://schemas.microsoft.com/office/powerpoint/2010/main" val="38080987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1">
            <a:extLst>
              <a:ext uri="{FF2B5EF4-FFF2-40B4-BE49-F238E27FC236}">
                <a16:creationId xmlns:a16="http://schemas.microsoft.com/office/drawing/2014/main" id="{51FE1059-A432-47C5-8138-AAB27DF2134B}"/>
              </a:ext>
            </a:extLst>
          </p:cNvPr>
          <p:cNvSpPr>
            <a:spLocks noGrp="1"/>
          </p:cNvSpPr>
          <p:nvPr>
            <p:ph type="title"/>
          </p:nvPr>
        </p:nvSpPr>
        <p:spPr>
          <a:xfrm>
            <a:off x="1251678" y="382385"/>
            <a:ext cx="10178322" cy="1492132"/>
          </a:xfrm>
        </p:spPr>
        <p:txBody>
          <a:bodyPr/>
          <a:lstStyle/>
          <a:p>
            <a:r>
              <a:rPr lang="es-ES" dirty="0"/>
              <a:t>UART</a:t>
            </a:r>
            <a:endParaRPr lang="es-CO" dirty="0"/>
          </a:p>
        </p:txBody>
      </p:sp>
      <p:pic>
        <p:nvPicPr>
          <p:cNvPr id="7" name="Imagen 6">
            <a:extLst>
              <a:ext uri="{FF2B5EF4-FFF2-40B4-BE49-F238E27FC236}">
                <a16:creationId xmlns:a16="http://schemas.microsoft.com/office/drawing/2014/main" id="{1D0E8C93-5343-42C7-9952-3F7736B79077}"/>
              </a:ext>
            </a:extLst>
          </p:cNvPr>
          <p:cNvPicPr>
            <a:picLocks noChangeAspect="1"/>
          </p:cNvPicPr>
          <p:nvPr/>
        </p:nvPicPr>
        <p:blipFill>
          <a:blip r:embed="rId2"/>
          <a:stretch>
            <a:fillRect/>
          </a:stretch>
        </p:blipFill>
        <p:spPr>
          <a:xfrm>
            <a:off x="1383076" y="2357437"/>
            <a:ext cx="9915525" cy="2143125"/>
          </a:xfrm>
          <a:prstGeom prst="rect">
            <a:avLst/>
          </a:prstGeom>
        </p:spPr>
      </p:pic>
    </p:spTree>
    <p:extLst>
      <p:ext uri="{BB962C8B-B14F-4D97-AF65-F5344CB8AC3E}">
        <p14:creationId xmlns:p14="http://schemas.microsoft.com/office/powerpoint/2010/main" val="1357649869"/>
      </p:ext>
    </p:extLst>
  </p:cSld>
  <p:clrMapOvr>
    <a:masterClrMapping/>
  </p:clrMapOvr>
</p:sld>
</file>

<file path=ppt/theme/theme1.xml><?xml version="1.0" encoding="utf-8"?>
<a:theme xmlns:a="http://schemas.openxmlformats.org/drawingml/2006/main" name="Distintivo">
  <a:themeElements>
    <a:clrScheme name="Distintivo">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Distintivo">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stintivo">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docProps/app.xml><?xml version="1.0" encoding="utf-8"?>
<Properties xmlns="http://schemas.openxmlformats.org/officeDocument/2006/extended-properties" xmlns:vt="http://schemas.openxmlformats.org/officeDocument/2006/docPropsVTypes">
  <Template>TM10001106[[fn=Distintivo]]</Template>
  <TotalTime>410</TotalTime>
  <Words>354</Words>
  <Application>Microsoft Office PowerPoint</Application>
  <PresentationFormat>Panorámica</PresentationFormat>
  <Paragraphs>41</Paragraphs>
  <Slides>30</Slides>
  <Notes>0</Notes>
  <HiddenSlides>0</HiddenSlides>
  <MMClips>1</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30</vt:i4>
      </vt:variant>
    </vt:vector>
  </HeadingPairs>
  <TitlesOfParts>
    <vt:vector size="34" baseType="lpstr">
      <vt:lpstr>Arial</vt:lpstr>
      <vt:lpstr>Gill Sans MT</vt:lpstr>
      <vt:lpstr>Impact</vt:lpstr>
      <vt:lpstr>Distintivo</vt:lpstr>
      <vt:lpstr>Sistema de control de carga inteligente de batería para hidroeléctrica</vt:lpstr>
      <vt:lpstr>Resumen</vt:lpstr>
      <vt:lpstr>Resumen</vt:lpstr>
      <vt:lpstr>Resumen</vt:lpstr>
      <vt:lpstr>Resumen</vt:lpstr>
      <vt:lpstr>Justificación</vt:lpstr>
      <vt:lpstr>justificación</vt:lpstr>
      <vt:lpstr>Desarrollo</vt:lpstr>
      <vt:lpstr>Diagrama de caja negra</vt:lpstr>
      <vt:lpstr>Entradas y salidas del sistema</vt:lpstr>
      <vt:lpstr>Diagrama de estados</vt:lpstr>
      <vt:lpstr>Tabla de estados futuros</vt:lpstr>
      <vt:lpstr>Mapas de karnaugh</vt:lpstr>
      <vt:lpstr>Mapas de karnaugh</vt:lpstr>
      <vt:lpstr>Esquemático propuesto</vt:lpstr>
      <vt:lpstr>Desarrollo en verilog</vt:lpstr>
      <vt:lpstr>Desarrollo en verilog</vt:lpstr>
      <vt:lpstr>Desarrollo en verilog</vt:lpstr>
      <vt:lpstr>Desarrollo en verilog</vt:lpstr>
      <vt:lpstr>Desarrollo en verilog</vt:lpstr>
      <vt:lpstr>Diagrama de cajas para conexión en top.v</vt:lpstr>
      <vt:lpstr>Desarrollo en verilog</vt:lpstr>
      <vt:lpstr>Montaje físico</vt:lpstr>
      <vt:lpstr>Montaje físico</vt:lpstr>
      <vt:lpstr>Montaje físico</vt:lpstr>
      <vt:lpstr>Retos</vt:lpstr>
      <vt:lpstr>Retos</vt:lpstr>
      <vt:lpstr>Oportunidades de mejora</vt:lpstr>
      <vt:lpstr>UART</vt:lpstr>
      <vt:lpstr>UART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Sistema de carga inteligente de batería para hidroeléctrica</dc:title>
  <dc:creator>Juan Diego Ruiz T.</dc:creator>
  <cp:lastModifiedBy>Juan Diego Ruiz T.</cp:lastModifiedBy>
  <cp:revision>11</cp:revision>
  <dcterms:created xsi:type="dcterms:W3CDTF">2025-12-12T13:59:52Z</dcterms:created>
  <dcterms:modified xsi:type="dcterms:W3CDTF">2025-12-13T04:12:23Z</dcterms:modified>
</cp:coreProperties>
</file>